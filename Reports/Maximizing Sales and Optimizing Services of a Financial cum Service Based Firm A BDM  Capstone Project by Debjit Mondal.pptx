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Red Hat Display" panose="02010303040201060303" pitchFamily="2" charset="0"/>
      <p:regular r:id="rId13"/>
      <p:bold r:id="rId14"/>
      <p:italic r:id="rId15"/>
      <p:boldItalic r:id="rId16"/>
    </p:embeddedFont>
    <p:embeddedFont>
      <p:font typeface="Red Hat Display Medium" panose="02010303040201060303" pitchFamily="2" charset="0"/>
      <p:regular r:id="rId17"/>
      <p:bold r:id="rId18"/>
      <p:italic r:id="rId19"/>
      <p:boldItalic r:id="rId20"/>
    </p:embeddedFont>
    <p:embeddedFont>
      <p:font typeface="Red Hat Display SemiBold" panose="02010303040201060303" pitchFamily="2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8"/>
    <p:restoredTop sz="83810" autoAdjust="0"/>
  </p:normalViewPr>
  <p:slideViewPr>
    <p:cSldViewPr snapToGrid="0">
      <p:cViewPr varScale="1">
        <p:scale>
          <a:sx n="142" d="100"/>
          <a:sy n="142" d="100"/>
        </p:scale>
        <p:origin x="696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70c21142f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70c21142f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Good evening, I’m Debjit Mondal, and today I will be presenting my capstone project conducted at Unique Enterprise, focusing on optimizing mutual fund sales and client portfolio alignment using data-driven methodologies.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70c21142f1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70c21142f1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Unique Enterprise is a financial and service-based B2C firm, offering mutual funds, insurance, ITR filing, money transfers, and ticket bookings.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serves over 160 clients.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main source of revenue of the business is from commission earned from mutual funds sales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Challenges that the business faces are inconsistent growth in mutual fund AUM and portfolio misalignment.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70c21142f1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70c21142f1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business is facing two core issues: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lphaL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First, the business is struggling to maximize profit from its mutual fund segment as the mutual fund sales strategy is ad-hoc and lacks structure, resulting in limited asset growth and missed profit opportunities.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lphaL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Second, there is no systematic process to assess each client's risk tolerance and investment goals, causing portfolios to misalign with true client needs.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 present Digital competitors are gaining ground by providing more advanced and personalized investment advice challenging offline business like Unique Enterprise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70c21142f1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70c21142f1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I had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collected mutual fund transaction records, NAV data each quarter, and mutual fund returns history from the business.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risk assessment form containing different relevant questions had been prepared with consulting the owner of the business to gather information of the risk taking capacity of the clients.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70c21142f1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70c21142f1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dirty="0"/>
              <a:t>I had </a:t>
            </a: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analyzed new investments, redemptions, and overall AUM trends.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Categorized funds into different risk levels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Assessed client risk capacity, 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Checked if actual portfolios matched these risk categories. 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Listed top 10 performing funds of different time-frames.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Tools that I had used are spreadsheets to find the investment trend, calculation of risk score and google </a:t>
            </a:r>
            <a:r>
              <a:rPr lang="en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colab</a:t>
            </a: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with Python libraries like </a:t>
            </a:r>
            <a:r>
              <a:rPr lang="en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Numpy</a:t>
            </a: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Pandas, and Scikit-learn to categorize mutual funds into different risk level.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70c21142f1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70c21142f1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the analysis it is found that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 were notable spikes in new investments during Q1-2024 and Q3-2024, after enquiring to the owner it is found that the business had organised campaign at a corporate event and in a training college.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Redemption surges appeared in Q3-2023 and Q1-2024, especially from two high-value investors who withdrew significant amounts.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70c21142f1_0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70c21142f1_0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risk assessment and categorization of the clients is is found that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Actual client portfolios that the business currently manages consist of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lphaLcPeriod"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43% are of high-risk categories, 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lphaLcPeriod"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56% in moderate, and 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lphaLcPeriod"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only 1% in low-risk funds.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the risk assessment, we received responses from 15 clients and found that: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lphaLcPeriod"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 of 15, 8 of clients prefer medium-risk investments, while,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lphaLcPeriod"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Although 6 favor high risk.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 of fifteen, six clients were identified with portfolios misaligned with their risk tolerance and need rebalancing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70c21142f1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70c21142f1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 the past one years, the top 10 performing funds were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lphaL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mostly with moderate-risk,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lphaL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mainly metal based funds and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lphaL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returns 27%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But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top 10 performing funds over the past five years, were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in high-risk,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mainly small-cap categories,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delivering an average return of 38%.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70c21142f1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70c21142f1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the analysis recommendation that I had provided to the business are: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Regular, targeted campaigns should be held to increase new investments, repeating prior successes.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High-value clients should be tracked closely to manage redemption risks and maintain AUM stability.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Mandate risk assessment for all new clients and regularly update existing client assessments to keep portfolios properly aligned.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Suggest low-risk funds for short-term needs, moderate-risk for medium-term, and high-risk for long-term goals.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70c21142f1_0_7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370c21142f1_0_7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That's all from my side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Special gratitude to Mr. Indrajit, owner of Unique Enterprise, for his support during this project.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Thank you for your attention.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name="adj1" fmla="val 0"/>
              <a:gd name="adj2" fmla="val 3967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name="adj1" fmla="val 0"/>
              <a:gd name="adj2" fmla="val 3967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subTitle" idx="1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BLANK_3">
    <p:bg>
      <p:bgPr>
        <a:solidFill>
          <a:schemeClr val="accent5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name="adj1" fmla="val 0"/>
              <a:gd name="adj2" fmla="val 3967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name="adj1" fmla="val 0"/>
              <a:gd name="adj2" fmla="val 3967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" name="Google Shape;43;p3"/>
          <p:cNvSpPr txBox="1">
            <a:spLocks noGrp="1"/>
          </p:cNvSpPr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"/>
          <p:cNvSpPr txBox="1">
            <a:spLocks noGrp="1"/>
          </p:cNvSpPr>
          <p:nvPr>
            <p:ph type="subTitle" idx="1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"/>
          <p:cNvSpPr>
            <a:spLocks noGrp="1"/>
          </p:cNvSpPr>
          <p:nvPr>
            <p:ph type="pic" idx="2"/>
          </p:nvPr>
        </p:nvSpPr>
        <p:spPr>
          <a:xfrm>
            <a:off x="3154650" y="3875225"/>
            <a:ext cx="618600" cy="808500"/>
          </a:xfrm>
          <a:prstGeom prst="snip2DiagRect">
            <a:avLst>
              <a:gd name="adj1" fmla="val 0"/>
              <a:gd name="adj2" fmla="val 34473"/>
            </a:avLst>
          </a:prstGeom>
          <a:noFill/>
          <a:ln>
            <a:noFill/>
          </a:ln>
        </p:spPr>
      </p:sp>
      <p:sp>
        <p:nvSpPr>
          <p:cNvPr id="46" name="Google Shape;46;p3"/>
          <p:cNvSpPr txBox="1">
            <a:spLocks noGrp="1"/>
          </p:cNvSpPr>
          <p:nvPr>
            <p:ph type="subTitle" idx="3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subTitle" idx="4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ubTitle" idx="5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6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BLANK_2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name="adj1" fmla="val 0"/>
              <a:gd name="adj2" fmla="val 3967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name="adj1" fmla="val 0"/>
              <a:gd name="adj2" fmla="val 3967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4"/>
          <p:cNvSpPr txBox="1">
            <a:spLocks noGrp="1"/>
          </p:cNvSpPr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section header">
  <p:cSld name="BLANK_1">
    <p:bg>
      <p:bgPr>
        <a:solidFill>
          <a:schemeClr val="accent5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5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78" name="Google Shape;78;p5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150" name="Google Shape;150;p5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151" name="Google Shape;151;p5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1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 1">
  <p:cSld name="CUSTOM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>
            <a:spLocks noGrp="1"/>
          </p:cNvSpPr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179" name="Google Shape;179;p6"/>
          <p:cNvSpPr>
            <a:spLocks noGrp="1"/>
          </p:cNvSpPr>
          <p:nvPr>
            <p:ph type="pic" idx="2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6"/>
          <p:cNvSpPr>
            <a:spLocks noGrp="1"/>
          </p:cNvSpPr>
          <p:nvPr>
            <p:ph type="pic" idx="3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6"/>
          <p:cNvSpPr>
            <a:spLocks noGrp="1"/>
          </p:cNvSpPr>
          <p:nvPr>
            <p:ph type="pic" idx="4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6"/>
          <p:cNvSpPr>
            <a:spLocks noGrp="1"/>
          </p:cNvSpPr>
          <p:nvPr>
            <p:ph type="pic" idx="5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6"/>
          <p:cNvSpPr>
            <a:spLocks noGrp="1"/>
          </p:cNvSpPr>
          <p:nvPr>
            <p:ph type="pic" idx="6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6"/>
          <p:cNvSpPr txBox="1">
            <a:spLocks noGrp="1"/>
          </p:cNvSpPr>
          <p:nvPr>
            <p:ph type="subTitle" idx="1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6"/>
          <p:cNvSpPr txBox="1">
            <a:spLocks noGrp="1"/>
          </p:cNvSpPr>
          <p:nvPr>
            <p:ph type="subTitle" idx="7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186" name="Google Shape;186;p6"/>
          <p:cNvSpPr txBox="1">
            <a:spLocks noGrp="1"/>
          </p:cNvSpPr>
          <p:nvPr>
            <p:ph type="subTitle" idx="8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6"/>
          <p:cNvSpPr txBox="1">
            <a:spLocks noGrp="1"/>
          </p:cNvSpPr>
          <p:nvPr>
            <p:ph type="subTitle" idx="9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188" name="Google Shape;188;p6"/>
          <p:cNvSpPr txBox="1">
            <a:spLocks noGrp="1"/>
          </p:cNvSpPr>
          <p:nvPr>
            <p:ph type="subTitle" idx="13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6"/>
          <p:cNvSpPr txBox="1">
            <a:spLocks noGrp="1"/>
          </p:cNvSpPr>
          <p:nvPr>
            <p:ph type="subTitle" idx="14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190" name="Google Shape;190;p6"/>
          <p:cNvSpPr txBox="1">
            <a:spLocks noGrp="1"/>
          </p:cNvSpPr>
          <p:nvPr>
            <p:ph type="subTitle" idx="15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p6"/>
          <p:cNvSpPr txBox="1">
            <a:spLocks noGrp="1"/>
          </p:cNvSpPr>
          <p:nvPr>
            <p:ph type="subTitle" idx="16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192" name="Google Shape;192;p6"/>
          <p:cNvSpPr txBox="1">
            <a:spLocks noGrp="1"/>
          </p:cNvSpPr>
          <p:nvPr>
            <p:ph type="subTitle" idx="17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6"/>
          <p:cNvSpPr txBox="1">
            <a:spLocks noGrp="1"/>
          </p:cNvSpPr>
          <p:nvPr>
            <p:ph type="subTitle" idx="18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 2">
  <p:cSld name="CUSTOM_1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>
            <a:spLocks noGrp="1"/>
          </p:cNvSpPr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" name="Google Shape;200;p7"/>
          <p:cNvSpPr>
            <a:spLocks noGrp="1"/>
          </p:cNvSpPr>
          <p:nvPr>
            <p:ph type="pic" idx="2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7"/>
          <p:cNvSpPr>
            <a:spLocks noGrp="1"/>
          </p:cNvSpPr>
          <p:nvPr>
            <p:ph type="pic" idx="3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7"/>
          <p:cNvSpPr>
            <a:spLocks noGrp="1"/>
          </p:cNvSpPr>
          <p:nvPr>
            <p:ph type="pic" idx="4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7"/>
          <p:cNvSpPr>
            <a:spLocks noGrp="1"/>
          </p:cNvSpPr>
          <p:nvPr>
            <p:ph type="pic" idx="5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7"/>
          <p:cNvSpPr>
            <a:spLocks noGrp="1"/>
          </p:cNvSpPr>
          <p:nvPr>
            <p:ph type="pic" idx="6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7"/>
          <p:cNvSpPr txBox="1">
            <a:spLocks noGrp="1"/>
          </p:cNvSpPr>
          <p:nvPr>
            <p:ph type="subTitle" idx="1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7"/>
          <p:cNvSpPr txBox="1">
            <a:spLocks noGrp="1"/>
          </p:cNvSpPr>
          <p:nvPr>
            <p:ph type="subTitle" idx="7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07" name="Google Shape;207;p7"/>
          <p:cNvSpPr txBox="1">
            <a:spLocks noGrp="1"/>
          </p:cNvSpPr>
          <p:nvPr>
            <p:ph type="subTitle" idx="8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7"/>
          <p:cNvSpPr txBox="1">
            <a:spLocks noGrp="1"/>
          </p:cNvSpPr>
          <p:nvPr>
            <p:ph type="subTitle" idx="9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09" name="Google Shape;209;p7"/>
          <p:cNvSpPr txBox="1">
            <a:spLocks noGrp="1"/>
          </p:cNvSpPr>
          <p:nvPr>
            <p:ph type="subTitle" idx="13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7"/>
          <p:cNvSpPr txBox="1">
            <a:spLocks noGrp="1"/>
          </p:cNvSpPr>
          <p:nvPr>
            <p:ph type="subTitle" idx="14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11" name="Google Shape;211;p7"/>
          <p:cNvSpPr txBox="1">
            <a:spLocks noGrp="1"/>
          </p:cNvSpPr>
          <p:nvPr>
            <p:ph type="subTitle" idx="15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7"/>
          <p:cNvSpPr txBox="1">
            <a:spLocks noGrp="1"/>
          </p:cNvSpPr>
          <p:nvPr>
            <p:ph type="subTitle" idx="16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13" name="Google Shape;213;p7"/>
          <p:cNvSpPr txBox="1">
            <a:spLocks noGrp="1"/>
          </p:cNvSpPr>
          <p:nvPr>
            <p:ph type="subTitle" idx="17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7"/>
          <p:cNvSpPr txBox="1">
            <a:spLocks noGrp="1"/>
          </p:cNvSpPr>
          <p:nvPr>
            <p:ph type="subTitle" idx="18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15" name="Google Shape;215;p7"/>
          <p:cNvSpPr txBox="1">
            <a:spLocks noGrp="1"/>
          </p:cNvSpPr>
          <p:nvPr>
            <p:ph type="body" idx="19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>
            <a:endParaRPr/>
          </a:p>
        </p:txBody>
      </p:sp>
      <p:sp>
        <p:nvSpPr>
          <p:cNvPr id="216" name="Google Shape;216;p7"/>
          <p:cNvSpPr txBox="1">
            <a:spLocks noGrp="1"/>
          </p:cNvSpPr>
          <p:nvPr>
            <p:ph type="body" idx="20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>
            <a:endParaRPr/>
          </a:p>
        </p:txBody>
      </p:sp>
      <p:sp>
        <p:nvSpPr>
          <p:cNvPr id="217" name="Google Shape;217;p7"/>
          <p:cNvSpPr txBox="1">
            <a:spLocks noGrp="1"/>
          </p:cNvSpPr>
          <p:nvPr>
            <p:ph type="body" idx="21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18" name="Google Shape;218;p7"/>
          <p:cNvSpPr txBox="1">
            <a:spLocks noGrp="1"/>
          </p:cNvSpPr>
          <p:nvPr>
            <p:ph type="body" idx="22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>
            <a:endParaRPr/>
          </a:p>
        </p:txBody>
      </p:sp>
      <p:sp>
        <p:nvSpPr>
          <p:cNvPr id="219" name="Google Shape;219;p7"/>
          <p:cNvSpPr txBox="1">
            <a:spLocks noGrp="1"/>
          </p:cNvSpPr>
          <p:nvPr>
            <p:ph type="body" idx="23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BLANK_1_1_1_1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>
            <a:spLocks noGrp="1"/>
          </p:cNvSpPr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blocks">
  <p:cSld name="BLANK_1_1_1_1_3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>
            <a:spLocks noGrp="1"/>
          </p:cNvSpPr>
          <p:nvPr>
            <p:ph type="subTitle" idx="1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4" name="Google Shape;224;p9"/>
          <p:cNvSpPr txBox="1">
            <a:spLocks noGrp="1"/>
          </p:cNvSpPr>
          <p:nvPr>
            <p:ph type="body" idx="2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>
            <a:endParaRPr/>
          </a:p>
        </p:txBody>
      </p:sp>
      <p:sp>
        <p:nvSpPr>
          <p:cNvPr id="225" name="Google Shape;225;p9"/>
          <p:cNvSpPr txBox="1">
            <a:spLocks noGrp="1"/>
          </p:cNvSpPr>
          <p:nvPr>
            <p:ph type="subTitle" idx="3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6" name="Google Shape;226;p9"/>
          <p:cNvSpPr txBox="1">
            <a:spLocks noGrp="1"/>
          </p:cNvSpPr>
          <p:nvPr>
            <p:ph type="body" idx="4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9"/>
          <p:cNvSpPr txBox="1">
            <a:spLocks noGrp="1"/>
          </p:cNvSpPr>
          <p:nvPr>
            <p:ph type="subTitle" idx="5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9"/>
          <p:cNvSpPr txBox="1">
            <a:spLocks noGrp="1"/>
          </p:cNvSpPr>
          <p:nvPr>
            <p:ph type="body" idx="6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>
            <a:endParaRPr/>
          </a:p>
        </p:txBody>
      </p:sp>
      <p:sp>
        <p:nvSpPr>
          <p:cNvPr id="229" name="Google Shape;229;p9"/>
          <p:cNvSpPr txBox="1">
            <a:spLocks noGrp="1"/>
          </p:cNvSpPr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30" name="Google Shape;230;p9"/>
          <p:cNvSpPr txBox="1">
            <a:spLocks noGrp="1"/>
          </p:cNvSpPr>
          <p:nvPr>
            <p:ph type="subTitle" idx="7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9"/>
          <p:cNvSpPr txBox="1">
            <a:spLocks noGrp="1"/>
          </p:cNvSpPr>
          <p:nvPr>
            <p:ph type="body" idx="8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>
            <a:endParaRPr/>
          </a:p>
        </p:txBody>
      </p:sp>
      <p:sp>
        <p:nvSpPr>
          <p:cNvPr id="232" name="Google Shape;232;p9"/>
          <p:cNvSpPr txBox="1">
            <a:spLocks noGrp="1"/>
          </p:cNvSpPr>
          <p:nvPr>
            <p:ph type="subTitle" idx="9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3" name="Google Shape;233;p9"/>
          <p:cNvSpPr txBox="1">
            <a:spLocks noGrp="1"/>
          </p:cNvSpPr>
          <p:nvPr>
            <p:ph type="body" idx="13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eatures">
  <p:cSld name="BLANK_1_1_1_1_2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>
            <a:spLocks noGrp="1"/>
          </p:cNvSpPr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36" name="Google Shape;236;p10"/>
          <p:cNvSpPr>
            <a:spLocks noGrp="1"/>
          </p:cNvSpPr>
          <p:nvPr>
            <p:ph type="pic" idx="2"/>
          </p:nvPr>
        </p:nvSpPr>
        <p:spPr>
          <a:xfrm>
            <a:off x="1446025" y="1291825"/>
            <a:ext cx="1232400" cy="1283100"/>
          </a:xfrm>
          <a:prstGeom prst="snip1Rect">
            <a:avLst>
              <a:gd name="adj" fmla="val 44296"/>
            </a:avLst>
          </a:prstGeom>
          <a:noFill/>
          <a:ln>
            <a:noFill/>
          </a:ln>
        </p:spPr>
      </p:sp>
      <p:sp>
        <p:nvSpPr>
          <p:cNvPr id="237" name="Google Shape;237;p10"/>
          <p:cNvSpPr>
            <a:spLocks noGrp="1"/>
          </p:cNvSpPr>
          <p:nvPr>
            <p:ph type="pic" idx="3"/>
          </p:nvPr>
        </p:nvSpPr>
        <p:spPr>
          <a:xfrm>
            <a:off x="6526650" y="1291825"/>
            <a:ext cx="1232400" cy="1283100"/>
          </a:xfrm>
          <a:prstGeom prst="snip1Rect">
            <a:avLst>
              <a:gd name="adj" fmla="val 44296"/>
            </a:avLst>
          </a:prstGeom>
          <a:noFill/>
          <a:ln>
            <a:noFill/>
          </a:ln>
        </p:spPr>
      </p:sp>
      <p:sp>
        <p:nvSpPr>
          <p:cNvPr id="238" name="Google Shape;238;p10"/>
          <p:cNvSpPr>
            <a:spLocks noGrp="1"/>
          </p:cNvSpPr>
          <p:nvPr>
            <p:ph type="pic" idx="4"/>
          </p:nvPr>
        </p:nvSpPr>
        <p:spPr>
          <a:xfrm>
            <a:off x="3982125" y="2570200"/>
            <a:ext cx="1232400" cy="1292100"/>
          </a:xfrm>
          <a:prstGeom prst="snip1Rect">
            <a:avLst>
              <a:gd name="adj" fmla="val 44296"/>
            </a:avLst>
          </a:prstGeom>
          <a:noFill/>
          <a:ln>
            <a:noFill/>
          </a:ln>
        </p:spPr>
      </p:sp>
      <p:sp>
        <p:nvSpPr>
          <p:cNvPr id="239" name="Google Shape;239;p10"/>
          <p:cNvSpPr txBox="1">
            <a:spLocks noGrp="1"/>
          </p:cNvSpPr>
          <p:nvPr>
            <p:ph type="subTitle" idx="1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0"/>
          <p:cNvSpPr txBox="1">
            <a:spLocks noGrp="1"/>
          </p:cNvSpPr>
          <p:nvPr>
            <p:ph type="subTitle" idx="5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>
            <a:endParaRPr/>
          </a:p>
        </p:txBody>
      </p:sp>
      <p:sp>
        <p:nvSpPr>
          <p:cNvPr id="241" name="Google Shape;241;p10"/>
          <p:cNvSpPr txBox="1">
            <a:spLocks noGrp="1"/>
          </p:cNvSpPr>
          <p:nvPr>
            <p:ph type="subTitle" idx="6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0"/>
          <p:cNvSpPr txBox="1">
            <a:spLocks noGrp="1"/>
          </p:cNvSpPr>
          <p:nvPr>
            <p:ph type="subTitle" idx="7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>
            <a:endParaRPr/>
          </a:p>
        </p:txBody>
      </p:sp>
      <p:sp>
        <p:nvSpPr>
          <p:cNvPr id="243" name="Google Shape;243;p10"/>
          <p:cNvSpPr txBox="1">
            <a:spLocks noGrp="1"/>
          </p:cNvSpPr>
          <p:nvPr>
            <p:ph type="subTitle" idx="8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0"/>
          <p:cNvSpPr txBox="1">
            <a:spLocks noGrp="1"/>
          </p:cNvSpPr>
          <p:nvPr>
            <p:ph type="subTitle" idx="9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>
            <a:endParaRPr/>
          </a:p>
        </p:txBody>
      </p:sp>
      <p:sp>
        <p:nvSpPr>
          <p:cNvPr id="245" name="Google Shape;245;p10"/>
          <p:cNvSpPr txBox="1">
            <a:spLocks noGrp="1"/>
          </p:cNvSpPr>
          <p:nvPr>
            <p:ph type="subTitle" idx="13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6" name="Google Shape;246;p10"/>
          <p:cNvSpPr txBox="1">
            <a:spLocks noGrp="1"/>
          </p:cNvSpPr>
          <p:nvPr>
            <p:ph type="subTitle" idx="14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7" name="Google Shape;247;p10"/>
          <p:cNvSpPr txBox="1">
            <a:spLocks noGrp="1"/>
          </p:cNvSpPr>
          <p:nvPr>
            <p:ph type="subTitle" idx="15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ards">
  <p:cSld name="CUSTOM_2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1"/>
          <p:cNvPicPr preferRelativeResize="0"/>
          <p:nvPr/>
        </p:nvPicPr>
        <p:blipFill rotWithShape="1">
          <a:blip r:embed="rId2">
            <a:alphaModFix/>
          </a:blip>
          <a:srcRect t="6703" r="17931" b="7467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 txBox="1">
            <a:spLocks noGrp="1"/>
          </p:cNvSpPr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51" name="Google Shape;251;p11"/>
          <p:cNvSpPr txBox="1">
            <a:spLocks noGrp="1"/>
          </p:cNvSpPr>
          <p:nvPr>
            <p:ph type="subTitle" idx="1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52" name="Google Shape;252;p11"/>
          <p:cNvSpPr txBox="1">
            <a:spLocks noGrp="1"/>
          </p:cNvSpPr>
          <p:nvPr>
            <p:ph type="subTitle" idx="2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53" name="Google Shape;253;p11"/>
          <p:cNvSpPr txBox="1">
            <a:spLocks noGrp="1"/>
          </p:cNvSpPr>
          <p:nvPr>
            <p:ph type="subTitle" idx="3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54" name="Google Shape;254;p11"/>
          <p:cNvSpPr txBox="1">
            <a:spLocks noGrp="1"/>
          </p:cNvSpPr>
          <p:nvPr>
            <p:ph type="subTitle" idx="4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55" name="Google Shape;255;p11"/>
          <p:cNvSpPr txBox="1">
            <a:spLocks noGrp="1"/>
          </p:cNvSpPr>
          <p:nvPr>
            <p:ph type="subTitle" idx="5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56" name="Google Shape;256;p11"/>
          <p:cNvSpPr txBox="1">
            <a:spLocks noGrp="1"/>
          </p:cNvSpPr>
          <p:nvPr>
            <p:ph type="subTitle" idx="6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w/ 3 ideas">
  <p:cSld name="CUSTOM_3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2"/>
          <p:cNvPicPr preferRelativeResize="0"/>
          <p:nvPr/>
        </p:nvPicPr>
        <p:blipFill rotWithShape="1">
          <a:blip r:embed="rId2">
            <a:alphaModFix/>
          </a:blip>
          <a:srcRect l="14900" t="15235" r="18070" b="15068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60" name="Google Shape;260;p12"/>
          <p:cNvSpPr txBox="1">
            <a:spLocks noGrp="1"/>
          </p:cNvSpPr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61" name="Google Shape;261;p12"/>
          <p:cNvSpPr>
            <a:spLocks noGrp="1"/>
          </p:cNvSpPr>
          <p:nvPr>
            <p:ph type="pic" idx="2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12"/>
          <p:cNvSpPr txBox="1">
            <a:spLocks noGrp="1"/>
          </p:cNvSpPr>
          <p:nvPr>
            <p:ph type="subTitle" idx="1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12"/>
          <p:cNvSpPr txBox="1">
            <a:spLocks noGrp="1"/>
          </p:cNvSpPr>
          <p:nvPr>
            <p:ph type="subTitle" idx="3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>
            <a:endParaRPr/>
          </a:p>
        </p:txBody>
      </p:sp>
      <p:sp>
        <p:nvSpPr>
          <p:cNvPr id="264" name="Google Shape;264;p12"/>
          <p:cNvSpPr txBox="1">
            <a:spLocks noGrp="1"/>
          </p:cNvSpPr>
          <p:nvPr>
            <p:ph type="subTitle" idx="4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12"/>
          <p:cNvSpPr txBox="1">
            <a:spLocks noGrp="1"/>
          </p:cNvSpPr>
          <p:nvPr>
            <p:ph type="subTitle" idx="5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>
            <a:endParaRPr/>
          </a:p>
        </p:txBody>
      </p:sp>
      <p:sp>
        <p:nvSpPr>
          <p:cNvPr id="266" name="Google Shape;266;p12"/>
          <p:cNvSpPr txBox="1">
            <a:spLocks noGrp="1"/>
          </p:cNvSpPr>
          <p:nvPr>
            <p:ph type="subTitle" idx="6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2"/>
          <p:cNvSpPr txBox="1">
            <a:spLocks noGrp="1"/>
          </p:cNvSpPr>
          <p:nvPr>
            <p:ph type="subTitle" idx="7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>
            <a:endParaRPr/>
          </a:p>
        </p:txBody>
      </p:sp>
      <p:sp>
        <p:nvSpPr>
          <p:cNvPr id="268" name="Google Shape;268;p12"/>
          <p:cNvSpPr txBox="1">
            <a:spLocks noGrp="1"/>
          </p:cNvSpPr>
          <p:nvPr>
            <p:ph type="subTitle" idx="8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12"/>
          <p:cNvSpPr txBox="1">
            <a:spLocks noGrp="1"/>
          </p:cNvSpPr>
          <p:nvPr>
            <p:ph type="subTitle" idx="9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deas">
  <p:cSld name="CUSTOM_4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>
            <a:spLocks noGrp="1"/>
          </p:cNvSpPr>
          <p:nvPr>
            <p:ph type="subTitle" idx="1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13"/>
          <p:cNvSpPr txBox="1">
            <a:spLocks noGrp="1"/>
          </p:cNvSpPr>
          <p:nvPr>
            <p:ph type="subTitle" idx="2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3"/>
          <p:cNvSpPr txBox="1">
            <a:spLocks noGrp="1"/>
          </p:cNvSpPr>
          <p:nvPr>
            <p:ph type="subTitle" idx="3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3"/>
          <p:cNvSpPr txBox="1">
            <a:spLocks noGrp="1"/>
          </p:cNvSpPr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name="adj1" fmla="val 0"/>
              <a:gd name="adj2" fmla="val 39159"/>
            </a:avLst>
          </a:prstGeom>
          <a:solidFill>
            <a:schemeClr val="dk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name="adj1" fmla="val 0"/>
              <a:gd name="adj2" fmla="val 39159"/>
            </a:avLst>
          </a:prstGeom>
          <a:solidFill>
            <a:schemeClr val="dk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name="adj1" fmla="val 0"/>
              <a:gd name="adj2" fmla="val 39159"/>
            </a:avLst>
          </a:prstGeom>
          <a:solidFill>
            <a:schemeClr val="dk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name="adj1" fmla="val 0"/>
              <a:gd name="adj2" fmla="val 39159"/>
            </a:avLst>
          </a:prstGeom>
          <a:solidFill>
            <a:schemeClr val="dk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9" name="Google Shape;279;p13"/>
          <p:cNvSpPr txBox="1">
            <a:spLocks noGrp="1"/>
          </p:cNvSpPr>
          <p:nvPr>
            <p:ph type="subTitle" idx="4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>
            <a:endParaRPr/>
          </a:p>
        </p:txBody>
      </p:sp>
      <p:sp>
        <p:nvSpPr>
          <p:cNvPr id="280" name="Google Shape;280;p13"/>
          <p:cNvSpPr txBox="1">
            <a:spLocks noGrp="1"/>
          </p:cNvSpPr>
          <p:nvPr>
            <p:ph type="subTitle" idx="5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>
            <a:endParaRPr/>
          </a:p>
        </p:txBody>
      </p:sp>
      <p:sp>
        <p:nvSpPr>
          <p:cNvPr id="281" name="Google Shape;281;p13"/>
          <p:cNvSpPr txBox="1">
            <a:spLocks noGrp="1"/>
          </p:cNvSpPr>
          <p:nvPr>
            <p:ph type="subTitle" idx="6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s w/ text">
  <p:cSld name="CUSTOM_5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84" name="Google Shape;284;p14"/>
          <p:cNvSpPr txBox="1">
            <a:spLocks noGrp="1"/>
          </p:cNvSpPr>
          <p:nvPr>
            <p:ph type="subTitle" idx="1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5" name="Google Shape;285;p14"/>
          <p:cNvSpPr txBox="1">
            <a:spLocks noGrp="1"/>
          </p:cNvSpPr>
          <p:nvPr>
            <p:ph type="subTitle" idx="2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14"/>
          <p:cNvSpPr txBox="1">
            <a:spLocks noGrp="1"/>
          </p:cNvSpPr>
          <p:nvPr>
            <p:ph type="subTitle" idx="3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7" name="Google Shape;287;p14"/>
          <p:cNvSpPr txBox="1">
            <a:spLocks noGrp="1"/>
          </p:cNvSpPr>
          <p:nvPr>
            <p:ph type="subTitle" idx="4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8" name="Google Shape;288;p14"/>
          <p:cNvSpPr txBox="1">
            <a:spLocks noGrp="1"/>
          </p:cNvSpPr>
          <p:nvPr>
            <p:ph type="body" idx="5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>
            <a:endParaRPr/>
          </a:p>
        </p:txBody>
      </p:sp>
      <p:sp>
        <p:nvSpPr>
          <p:cNvPr id="289" name="Google Shape;289;p14"/>
          <p:cNvSpPr txBox="1">
            <a:spLocks noGrp="1"/>
          </p:cNvSpPr>
          <p:nvPr>
            <p:ph type="body" idx="6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>
            <a:endParaRPr/>
          </a:p>
        </p:txBody>
      </p:sp>
      <p:sp>
        <p:nvSpPr>
          <p:cNvPr id="290" name="Google Shape;290;p14"/>
          <p:cNvSpPr txBox="1">
            <a:spLocks noGrp="1"/>
          </p:cNvSpPr>
          <p:nvPr>
            <p:ph type="body" idx="7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>
            <a:endParaRPr/>
          </a:p>
        </p:txBody>
      </p:sp>
      <p:sp>
        <p:nvSpPr>
          <p:cNvPr id="291" name="Google Shape;291;p14"/>
          <p:cNvSpPr txBox="1">
            <a:spLocks noGrp="1"/>
          </p:cNvSpPr>
          <p:nvPr>
            <p:ph type="body" idx="8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>
            <a:endParaRPr/>
          </a:p>
        </p:txBody>
      </p:sp>
      <p:sp>
        <p:nvSpPr>
          <p:cNvPr id="292" name="Google Shape;292;p14"/>
          <p:cNvSpPr txBox="1">
            <a:spLocks noGrp="1"/>
          </p:cNvSpPr>
          <p:nvPr>
            <p:ph type="subTitle" idx="9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CUSTOM_5_2_3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>
            <a:spLocks noGrp="1"/>
          </p:cNvSpPr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96" name="Google Shape;296;p15"/>
          <p:cNvSpPr txBox="1">
            <a:spLocks noGrp="1"/>
          </p:cNvSpPr>
          <p:nvPr>
            <p:ph type="subTitle" idx="1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9" name="Google Shape;299;p15"/>
          <p:cNvSpPr txBox="1">
            <a:spLocks noGrp="1"/>
          </p:cNvSpPr>
          <p:nvPr>
            <p:ph type="subTitle" idx="2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15"/>
          <p:cNvSpPr txBox="1">
            <a:spLocks noGrp="1"/>
          </p:cNvSpPr>
          <p:nvPr>
            <p:ph type="subTitle" idx="3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5"/>
          <p:cNvSpPr txBox="1">
            <a:spLocks noGrp="1"/>
          </p:cNvSpPr>
          <p:nvPr>
            <p:ph type="subTitle" idx="4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15"/>
          <p:cNvSpPr txBox="1">
            <a:spLocks noGrp="1"/>
          </p:cNvSpPr>
          <p:nvPr>
            <p:ph type="subTitle" idx="5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5"/>
          <p:cNvSpPr txBox="1">
            <a:spLocks noGrp="1"/>
          </p:cNvSpPr>
          <p:nvPr>
            <p:ph type="subTitle" idx="6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5"/>
          <p:cNvSpPr txBox="1">
            <a:spLocks noGrp="1"/>
          </p:cNvSpPr>
          <p:nvPr>
            <p:ph type="subTitle" idx="7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5"/>
          <p:cNvSpPr txBox="1">
            <a:spLocks noGrp="1"/>
          </p:cNvSpPr>
          <p:nvPr>
            <p:ph type="subTitle" idx="8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15"/>
          <p:cNvSpPr txBox="1">
            <a:spLocks noGrp="1"/>
          </p:cNvSpPr>
          <p:nvPr>
            <p:ph type="subTitle" idx="9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15"/>
          <p:cNvSpPr txBox="1">
            <a:spLocks noGrp="1"/>
          </p:cNvSpPr>
          <p:nvPr>
            <p:ph type="subTitle" idx="13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15"/>
          <p:cNvSpPr txBox="1">
            <a:spLocks noGrp="1"/>
          </p:cNvSpPr>
          <p:nvPr>
            <p:ph type="subTitle" idx="14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15"/>
          <p:cNvSpPr txBox="1">
            <a:spLocks noGrp="1"/>
          </p:cNvSpPr>
          <p:nvPr>
            <p:ph type="subTitle" idx="15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15"/>
          <p:cNvSpPr txBox="1">
            <a:spLocks noGrp="1"/>
          </p:cNvSpPr>
          <p:nvPr>
            <p:ph type="subTitle" idx="16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5"/>
          <p:cNvSpPr txBox="1">
            <a:spLocks noGrp="1"/>
          </p:cNvSpPr>
          <p:nvPr>
            <p:ph type="subTitle" idx="17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15"/>
          <p:cNvSpPr txBox="1">
            <a:spLocks noGrp="1"/>
          </p:cNvSpPr>
          <p:nvPr>
            <p:ph type="subTitle" idx="18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15"/>
          <p:cNvSpPr txBox="1">
            <a:spLocks noGrp="1"/>
          </p:cNvSpPr>
          <p:nvPr>
            <p:ph type="subTitle" idx="19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15"/>
          <p:cNvSpPr txBox="1">
            <a:spLocks noGrp="1"/>
          </p:cNvSpPr>
          <p:nvPr>
            <p:ph type="subTitle" idx="20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5"/>
          <p:cNvSpPr txBox="1">
            <a:spLocks noGrp="1"/>
          </p:cNvSpPr>
          <p:nvPr>
            <p:ph type="subTitle" idx="21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15"/>
          <p:cNvSpPr txBox="1">
            <a:spLocks noGrp="1"/>
          </p:cNvSpPr>
          <p:nvPr>
            <p:ph type="subTitle" idx="22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5"/>
          <p:cNvSpPr txBox="1">
            <a:spLocks noGrp="1"/>
          </p:cNvSpPr>
          <p:nvPr>
            <p:ph type="subTitle" idx="23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5"/>
          <p:cNvSpPr txBox="1">
            <a:spLocks noGrp="1"/>
          </p:cNvSpPr>
          <p:nvPr>
            <p:ph type="subTitle" idx="24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15"/>
          <p:cNvSpPr txBox="1">
            <a:spLocks noGrp="1"/>
          </p:cNvSpPr>
          <p:nvPr>
            <p:ph type="subTitle" idx="25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15"/>
          <p:cNvSpPr txBox="1">
            <a:spLocks noGrp="1"/>
          </p:cNvSpPr>
          <p:nvPr>
            <p:ph type="subTitle" idx="26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5"/>
          <p:cNvSpPr txBox="1">
            <a:spLocks noGrp="1"/>
          </p:cNvSpPr>
          <p:nvPr>
            <p:ph type="subTitle" idx="27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highlights">
  <p:cSld name="CUSTOM_5_2_2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>
            <a:spLocks noGrp="1"/>
          </p:cNvSpPr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324" name="Google Shape;324;p16"/>
          <p:cNvSpPr txBox="1">
            <a:spLocks noGrp="1"/>
          </p:cNvSpPr>
          <p:nvPr>
            <p:ph type="subTitle" idx="1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6" name="Google Shape;326;p16"/>
          <p:cNvSpPr txBox="1">
            <a:spLocks noGrp="1"/>
          </p:cNvSpPr>
          <p:nvPr>
            <p:ph type="subTitle" idx="2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>
            <a:endParaRPr/>
          </a:p>
        </p:txBody>
      </p:sp>
      <p:sp>
        <p:nvSpPr>
          <p:cNvPr id="327" name="Google Shape;327;p16"/>
          <p:cNvSpPr txBox="1">
            <a:spLocks noGrp="1"/>
          </p:cNvSpPr>
          <p:nvPr>
            <p:ph type="subTitle" idx="3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>
            <a:endParaRPr/>
          </a:p>
        </p:txBody>
      </p:sp>
      <p:sp>
        <p:nvSpPr>
          <p:cNvPr id="328" name="Google Shape;328;p16"/>
          <p:cNvSpPr txBox="1">
            <a:spLocks noGrp="1"/>
          </p:cNvSpPr>
          <p:nvPr>
            <p:ph type="subTitle" idx="4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>
            <a:endParaRPr/>
          </a:p>
        </p:txBody>
      </p:sp>
      <p:sp>
        <p:nvSpPr>
          <p:cNvPr id="329" name="Google Shape;329;p16"/>
          <p:cNvSpPr txBox="1">
            <a:spLocks noGrp="1"/>
          </p:cNvSpPr>
          <p:nvPr>
            <p:ph type="subTitle" idx="5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>
            <a:endParaRPr/>
          </a:p>
        </p:txBody>
      </p:sp>
      <p:sp>
        <p:nvSpPr>
          <p:cNvPr id="330" name="Google Shape;330;p16"/>
          <p:cNvSpPr txBox="1">
            <a:spLocks noGrp="1"/>
          </p:cNvSpPr>
          <p:nvPr>
            <p:ph type="subTitle" idx="6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>
            <a:endParaRPr/>
          </a:p>
        </p:txBody>
      </p:sp>
      <p:sp>
        <p:nvSpPr>
          <p:cNvPr id="331" name="Google Shape;331;p16"/>
          <p:cNvSpPr txBox="1">
            <a:spLocks noGrp="1"/>
          </p:cNvSpPr>
          <p:nvPr>
            <p:ph type="body" idx="7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>
            <a:endParaRPr/>
          </a:p>
        </p:txBody>
      </p:sp>
      <p:sp>
        <p:nvSpPr>
          <p:cNvPr id="332" name="Google Shape;332;p16"/>
          <p:cNvSpPr txBox="1">
            <a:spLocks noGrp="1"/>
          </p:cNvSpPr>
          <p:nvPr>
            <p:ph type="body" idx="8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marL="914400" lvl="1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marL="1371600" lvl="2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marL="1828800" lvl="3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marL="2286000" lvl="4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marL="2743200" lvl="5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marL="3200400" lvl="6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marL="3657600" lvl="7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marL="4114800" lvl="8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>
            <a:endParaRPr/>
          </a:p>
        </p:txBody>
      </p:sp>
      <p:sp>
        <p:nvSpPr>
          <p:cNvPr id="333" name="Google Shape;333;p16"/>
          <p:cNvSpPr txBox="1">
            <a:spLocks noGrp="1"/>
          </p:cNvSpPr>
          <p:nvPr>
            <p:ph type="body" idx="9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>
            <a:endParaRPr/>
          </a:p>
        </p:txBody>
      </p:sp>
      <p:sp>
        <p:nvSpPr>
          <p:cNvPr id="334" name="Google Shape;334;p16"/>
          <p:cNvSpPr txBox="1">
            <a:spLocks noGrp="1"/>
          </p:cNvSpPr>
          <p:nvPr>
            <p:ph type="body" idx="13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>
            <a:endParaRPr/>
          </a:p>
        </p:txBody>
      </p:sp>
      <p:sp>
        <p:nvSpPr>
          <p:cNvPr id="335" name="Google Shape;335;p16"/>
          <p:cNvSpPr txBox="1">
            <a:spLocks noGrp="1"/>
          </p:cNvSpPr>
          <p:nvPr>
            <p:ph type="body" idx="14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highlights w/ dots">
  <p:cSld name="CUSTOM_5_2_1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"/>
          <p:cNvSpPr txBox="1">
            <a:spLocks noGrp="1"/>
          </p:cNvSpPr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338" name="Google Shape;338;p17"/>
          <p:cNvSpPr txBox="1">
            <a:spLocks noGrp="1"/>
          </p:cNvSpPr>
          <p:nvPr>
            <p:ph type="subTitle" idx="1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39" name="Google Shape;339;p1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0" name="Google Shape;340;p17"/>
          <p:cNvSpPr txBox="1">
            <a:spLocks noGrp="1"/>
          </p:cNvSpPr>
          <p:nvPr>
            <p:ph type="subTitle" idx="2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>
            <a:endParaRPr/>
          </a:p>
        </p:txBody>
      </p:sp>
      <p:sp>
        <p:nvSpPr>
          <p:cNvPr id="341" name="Google Shape;341;p17"/>
          <p:cNvSpPr txBox="1">
            <a:spLocks noGrp="1"/>
          </p:cNvSpPr>
          <p:nvPr>
            <p:ph type="subTitle" idx="3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>
            <a:endParaRPr/>
          </a:p>
        </p:txBody>
      </p:sp>
      <p:sp>
        <p:nvSpPr>
          <p:cNvPr id="342" name="Google Shape;342;p17"/>
          <p:cNvSpPr txBox="1">
            <a:spLocks noGrp="1"/>
          </p:cNvSpPr>
          <p:nvPr>
            <p:ph type="subTitle" idx="4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>
            <a:endParaRPr/>
          </a:p>
        </p:txBody>
      </p:sp>
      <p:sp>
        <p:nvSpPr>
          <p:cNvPr id="343" name="Google Shape;343;p17"/>
          <p:cNvSpPr txBox="1">
            <a:spLocks noGrp="1"/>
          </p:cNvSpPr>
          <p:nvPr>
            <p:ph type="body" idx="5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marL="914400" lvl="1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marL="1371600" lvl="2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marL="1828800" lvl="3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marL="2286000" lvl="4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marL="2743200" lvl="5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marL="3200400" lvl="6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marL="3657600" lvl="7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marL="4114800" lvl="8" indent="-28575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>
            <a:endParaRPr/>
          </a:p>
        </p:txBody>
      </p:sp>
      <p:grpSp>
        <p:nvGrpSpPr>
          <p:cNvPr id="344" name="Google Shape;344;p17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345" name="Google Shape;345;p17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369" name="Google Shape;369;p17"/>
          <p:cNvSpPr txBox="1">
            <a:spLocks noGrp="1"/>
          </p:cNvSpPr>
          <p:nvPr>
            <p:ph type="body" idx="6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lvl="1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lvl="2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lvl="3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lvl="4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lvl="5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lvl="6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lvl="7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lvl="8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>
            <a:endParaRPr/>
          </a:p>
        </p:txBody>
      </p:sp>
      <p:sp>
        <p:nvSpPr>
          <p:cNvPr id="370" name="Google Shape;370;p17"/>
          <p:cNvSpPr txBox="1">
            <a:spLocks noGrp="1"/>
          </p:cNvSpPr>
          <p:nvPr>
            <p:ph type="body" idx="7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lvl="1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lvl="2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lvl="3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lvl="4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lvl="5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lvl="6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lvl="7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lvl="8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highlights">
  <p:cSld name="CUSTOM_5_2_1_1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"/>
          <p:cNvSpPr txBox="1">
            <a:spLocks noGrp="1"/>
          </p:cNvSpPr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373" name="Google Shape;373;p18"/>
          <p:cNvSpPr txBox="1">
            <a:spLocks noGrp="1"/>
          </p:cNvSpPr>
          <p:nvPr>
            <p:ph type="subTitle" idx="1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74" name="Google Shape;374;p18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5" name="Google Shape;375;p18"/>
          <p:cNvSpPr txBox="1">
            <a:spLocks noGrp="1"/>
          </p:cNvSpPr>
          <p:nvPr>
            <p:ph type="subTitle" idx="2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>
            <a:endParaRPr/>
          </a:p>
        </p:txBody>
      </p:sp>
      <p:sp>
        <p:nvSpPr>
          <p:cNvPr id="376" name="Google Shape;376;p18"/>
          <p:cNvSpPr txBox="1">
            <a:spLocks noGrp="1"/>
          </p:cNvSpPr>
          <p:nvPr>
            <p:ph type="subTitle" idx="3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>
            <a:endParaRPr/>
          </a:p>
        </p:txBody>
      </p:sp>
      <p:sp>
        <p:nvSpPr>
          <p:cNvPr id="377" name="Google Shape;377;p18"/>
          <p:cNvSpPr txBox="1">
            <a:spLocks noGrp="1"/>
          </p:cNvSpPr>
          <p:nvPr>
            <p:ph type="subTitle" idx="4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>
            <a:endParaRPr/>
          </a:p>
        </p:txBody>
      </p:sp>
      <p:sp>
        <p:nvSpPr>
          <p:cNvPr id="378" name="Google Shape;378;p18"/>
          <p:cNvSpPr txBox="1">
            <a:spLocks noGrp="1"/>
          </p:cNvSpPr>
          <p:nvPr>
            <p:ph type="body" idx="5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marL="914400" lvl="1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marL="1371600" lvl="2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marL="1828800" lvl="3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marL="2286000" lvl="4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marL="2743200" lvl="5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marL="3200400" lvl="6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marL="3657600" lvl="7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marL="4114800" lvl="8" indent="-28575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>
            <a:endParaRPr/>
          </a:p>
        </p:txBody>
      </p:sp>
      <p:sp>
        <p:nvSpPr>
          <p:cNvPr id="379" name="Google Shape;379;p18"/>
          <p:cNvSpPr txBox="1">
            <a:spLocks noGrp="1"/>
          </p:cNvSpPr>
          <p:nvPr>
            <p:ph type="body" idx="6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lvl="1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lvl="2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lvl="3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lvl="4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lvl="5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lvl="6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lvl="7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lvl="8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>
            <a:endParaRPr/>
          </a:p>
        </p:txBody>
      </p:sp>
      <p:sp>
        <p:nvSpPr>
          <p:cNvPr id="380" name="Google Shape;380;p18"/>
          <p:cNvSpPr txBox="1">
            <a:spLocks noGrp="1"/>
          </p:cNvSpPr>
          <p:nvPr>
            <p:ph type="body" idx="7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lvl="1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lvl="2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lvl="3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lvl="4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lvl="5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lvl="6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lvl="7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lvl="8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highlights">
  <p:cSld name="CUSTOM_5_1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3" name="Google Shape;383;p19"/>
          <p:cNvSpPr txBox="1">
            <a:spLocks noGrp="1"/>
          </p:cNvSpPr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384" name="Google Shape;384;p19"/>
          <p:cNvSpPr txBox="1">
            <a:spLocks noGrp="1"/>
          </p:cNvSpPr>
          <p:nvPr>
            <p:ph type="subTitle" idx="1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85" name="Google Shape;385;p19"/>
          <p:cNvSpPr txBox="1">
            <a:spLocks noGrp="1"/>
          </p:cNvSpPr>
          <p:nvPr>
            <p:ph type="subTitle" idx="2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9"/>
          <p:cNvSpPr txBox="1">
            <a:spLocks noGrp="1"/>
          </p:cNvSpPr>
          <p:nvPr>
            <p:ph type="subTitle" idx="3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9"/>
          <p:cNvSpPr txBox="1">
            <a:spLocks noGrp="1"/>
          </p:cNvSpPr>
          <p:nvPr>
            <p:ph type="subTitle" idx="4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19"/>
          <p:cNvSpPr txBox="1">
            <a:spLocks noGrp="1"/>
          </p:cNvSpPr>
          <p:nvPr>
            <p:ph type="subTitle" idx="5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19"/>
          <p:cNvSpPr txBox="1">
            <a:spLocks noGrp="1"/>
          </p:cNvSpPr>
          <p:nvPr>
            <p:ph type="subTitle" idx="6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390" name="Google Shape;390;p19"/>
          <p:cNvSpPr txBox="1">
            <a:spLocks noGrp="1"/>
          </p:cNvSpPr>
          <p:nvPr>
            <p:ph type="subTitle" idx="7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391" name="Google Shape;391;p19"/>
          <p:cNvSpPr txBox="1">
            <a:spLocks noGrp="1"/>
          </p:cNvSpPr>
          <p:nvPr>
            <p:ph type="subTitle" idx="8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392" name="Google Shape;392;p19"/>
          <p:cNvSpPr txBox="1">
            <a:spLocks noGrp="1"/>
          </p:cNvSpPr>
          <p:nvPr>
            <p:ph type="subTitle" idx="9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/ Black">
  <p:cSld name="BLANK_1_1_1_1_1_1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4" name="Google Shape;394;p20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5" name="Google Shape;395;p20"/>
          <p:cNvCxnSpPr>
            <a:stCxn id="396" idx="1"/>
            <a:endCxn id="397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8" name="Google Shape;398;p20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9" name="Google Shape;399;p20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6" name="Google Shape;396;p20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0" name="Google Shape;400;p20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7" name="Google Shape;397;p20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1" name="Google Shape;401;p20"/>
          <p:cNvCxnSpPr/>
          <p:nvPr/>
        </p:nvCxnSpPr>
        <p:spPr>
          <a:xfrm rot="10800000" flipH="1">
            <a:off x="-23900" y="3541825"/>
            <a:ext cx="1163100" cy="11631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2" name="Google Shape;402;p20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3" name="Google Shape;403;p20"/>
          <p:cNvSpPr txBox="1">
            <a:spLocks noGrp="1"/>
          </p:cNvSpPr>
          <p:nvPr>
            <p:ph type="subTitle" idx="1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20"/>
          <p:cNvSpPr txBox="1">
            <a:spLocks noGrp="1"/>
          </p:cNvSpPr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/ Green">
  <p:cSld name="BLANK_1_1_1_1_1_1_2">
    <p:bg>
      <p:bgPr>
        <a:solidFill>
          <a:schemeClr val="accent5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6" name="Google Shape;406;p21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7" name="Google Shape;407;p21"/>
          <p:cNvCxnSpPr>
            <a:stCxn id="408" idx="1"/>
            <a:endCxn id="409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21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1" name="Google Shape;411;p21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8" name="Google Shape;408;p21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2" name="Google Shape;412;p21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9" name="Google Shape;409;p21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3" name="Google Shape;413;p21"/>
          <p:cNvCxnSpPr/>
          <p:nvPr/>
        </p:nvCxnSpPr>
        <p:spPr>
          <a:xfrm rot="10800000" flipH="1">
            <a:off x="-23900" y="3541825"/>
            <a:ext cx="1163100" cy="1163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4" name="Google Shape;414;p21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5" name="Google Shape;415;p21"/>
          <p:cNvSpPr txBox="1">
            <a:spLocks noGrp="1"/>
          </p:cNvSpPr>
          <p:nvPr>
            <p:ph type="subTitle" idx="1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21"/>
          <p:cNvSpPr txBox="1">
            <a:spLocks noGrp="1"/>
          </p:cNvSpPr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/ description">
  <p:cSld name="BLANK_1_1_1_1_1_1_1_1_1_1_1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"/>
          <p:cNvSpPr txBox="1">
            <a:spLocks noGrp="1"/>
          </p:cNvSpPr>
          <p:nvPr>
            <p:ph type="subTitle" idx="1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19" name="Google Shape;419;p22"/>
          <p:cNvSpPr txBox="1">
            <a:spLocks noGrp="1"/>
          </p:cNvSpPr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0" name="Google Shape;420;p22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4" name="Google Shape;424;p22"/>
          <p:cNvSpPr txBox="1">
            <a:spLocks noGrp="1"/>
          </p:cNvSpPr>
          <p:nvPr>
            <p:ph type="subTitle" idx="2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5" name="Google Shape;425;p22"/>
          <p:cNvSpPr txBox="1">
            <a:spLocks noGrp="1"/>
          </p:cNvSpPr>
          <p:nvPr>
            <p:ph type="subTitle" idx="3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22"/>
          <p:cNvSpPr txBox="1">
            <a:spLocks noGrp="1"/>
          </p:cNvSpPr>
          <p:nvPr>
            <p:ph type="subTitle" idx="4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7" name="Google Shape;427;p22"/>
          <p:cNvSpPr txBox="1">
            <a:spLocks noGrp="1"/>
          </p:cNvSpPr>
          <p:nvPr>
            <p:ph type="subTitle" idx="5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22"/>
          <p:cNvSpPr txBox="1">
            <a:spLocks noGrp="1"/>
          </p:cNvSpPr>
          <p:nvPr>
            <p:ph type="subTitle" idx="6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9" name="Google Shape;429;p22"/>
          <p:cNvSpPr txBox="1">
            <a:spLocks noGrp="1"/>
          </p:cNvSpPr>
          <p:nvPr>
            <p:ph type="subTitle" idx="7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22"/>
          <p:cNvSpPr txBox="1">
            <a:spLocks noGrp="1"/>
          </p:cNvSpPr>
          <p:nvPr>
            <p:ph type="subTitle" idx="8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1" name="Google Shape;431;p22"/>
          <p:cNvSpPr txBox="1">
            <a:spLocks noGrp="1"/>
          </p:cNvSpPr>
          <p:nvPr>
            <p:ph type="subTitle" idx="9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22"/>
          <p:cNvSpPr txBox="1">
            <a:spLocks noGrp="1"/>
          </p:cNvSpPr>
          <p:nvPr>
            <p:ph type="subTitle" idx="13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3" name="Google Shape;433;p22"/>
          <p:cNvSpPr txBox="1">
            <a:spLocks noGrp="1"/>
          </p:cNvSpPr>
          <p:nvPr>
            <p:ph type="subTitle" idx="14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22"/>
          <p:cNvSpPr txBox="1">
            <a:spLocks noGrp="1"/>
          </p:cNvSpPr>
          <p:nvPr>
            <p:ph type="subTitle" idx="15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BLANK_1_1_1_1_1_1_1_1_1_1_1_2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"/>
          <p:cNvSpPr txBox="1">
            <a:spLocks noGrp="1"/>
          </p:cNvSpPr>
          <p:nvPr>
            <p:ph type="subTitle" idx="1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23"/>
          <p:cNvSpPr txBox="1">
            <a:spLocks noGrp="1"/>
          </p:cNvSpPr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8" name="Google Shape;438;p23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2" name="Google Shape;442;p23"/>
          <p:cNvSpPr txBox="1">
            <a:spLocks noGrp="1"/>
          </p:cNvSpPr>
          <p:nvPr>
            <p:ph type="subTitle" idx="2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23"/>
          <p:cNvSpPr txBox="1">
            <a:spLocks noGrp="1"/>
          </p:cNvSpPr>
          <p:nvPr>
            <p:ph type="subTitle" idx="3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44" name="Google Shape;444;p23"/>
          <p:cNvSpPr txBox="1">
            <a:spLocks noGrp="1"/>
          </p:cNvSpPr>
          <p:nvPr>
            <p:ph type="subTitle" idx="4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23"/>
          <p:cNvSpPr txBox="1">
            <a:spLocks noGrp="1"/>
          </p:cNvSpPr>
          <p:nvPr>
            <p:ph type="subTitle" idx="5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23"/>
          <p:cNvSpPr txBox="1">
            <a:spLocks noGrp="1"/>
          </p:cNvSpPr>
          <p:nvPr>
            <p:ph type="subTitle" idx="6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xt steps">
  <p:cSld name="CUSTOM_6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4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name="adj" fmla="val 39812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9" name="Google Shape;449;p24"/>
          <p:cNvSpPr txBox="1">
            <a:spLocks noGrp="1"/>
          </p:cNvSpPr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24"/>
          <p:cNvSpPr txBox="1">
            <a:spLocks noGrp="1"/>
          </p:cNvSpPr>
          <p:nvPr>
            <p:ph type="subTitle" idx="1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24"/>
          <p:cNvSpPr txBox="1">
            <a:spLocks noGrp="1"/>
          </p:cNvSpPr>
          <p:nvPr>
            <p:ph type="subTitle" idx="2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>
            <a:endParaRPr/>
          </a:p>
        </p:txBody>
      </p:sp>
      <p:sp>
        <p:nvSpPr>
          <p:cNvPr id="452" name="Google Shape;452;p24"/>
          <p:cNvSpPr txBox="1">
            <a:spLocks noGrp="1"/>
          </p:cNvSpPr>
          <p:nvPr>
            <p:ph type="subTitle" idx="3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>
            <a:endParaRPr/>
          </a:p>
        </p:txBody>
      </p:sp>
      <p:sp>
        <p:nvSpPr>
          <p:cNvPr id="453" name="Google Shape;453;p24"/>
          <p:cNvSpPr txBox="1">
            <a:spLocks noGrp="1"/>
          </p:cNvSpPr>
          <p:nvPr>
            <p:ph type="subTitle" idx="4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>
            <a:endParaRPr/>
          </a:p>
        </p:txBody>
      </p:sp>
      <p:sp>
        <p:nvSpPr>
          <p:cNvPr id="454" name="Google Shape;454;p24"/>
          <p:cNvSpPr txBox="1">
            <a:spLocks noGrp="1"/>
          </p:cNvSpPr>
          <p:nvPr>
            <p:ph type="subTitle" idx="5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>
            <a:endParaRPr/>
          </a:p>
        </p:txBody>
      </p:sp>
      <p:sp>
        <p:nvSpPr>
          <p:cNvPr id="455" name="Google Shape;455;p24"/>
          <p:cNvSpPr txBox="1">
            <a:spLocks noGrp="1"/>
          </p:cNvSpPr>
          <p:nvPr>
            <p:ph type="subTitle" idx="6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>
            <a:endParaRPr/>
          </a:p>
        </p:txBody>
      </p:sp>
      <p:sp>
        <p:nvSpPr>
          <p:cNvPr id="456" name="Google Shape;456;p24"/>
          <p:cNvSpPr txBox="1">
            <a:spLocks noGrp="1"/>
          </p:cNvSpPr>
          <p:nvPr>
            <p:ph type="subTitle" idx="7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65" name="Google Shape;465;p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2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3" name="Google Shape;473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4" name="Google Shape;474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9" name="Google Shape;479;p3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4" name="Google Shape;484;p34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5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87" name="Google Shape;487;p35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8" name="Google Shape;488;p35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489" name="Google Shape;489;p35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90" name="Google Shape;490;p35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93" name="Google Shape;493;p36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494" name="Google Shape;494;p36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95" name="Google Shape;495;p36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96" name="Google Shape;496;p36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97" name="Google Shape;497;p36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98" name="Google Shape;498;p36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7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1" name="Google Shape;501;p37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502" name="Google Shape;502;p37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503" name="Google Shape;503;p37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504" name="Google Shape;504;p37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05" name="Google Shape;505;p37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06" name="Google Shape;506;p37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07" name="Google Shape;507;p37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08" name="Google Shape;508;p37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11" name="Google Shape;511;p38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4" name="Google Shape;514;p39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39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39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7" name="Google Shape;517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39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19" name="Google Shape;519;p39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0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2" name="Google Shape;522;p40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40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40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5" name="Google Shape;525;p40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40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7" name="Google Shape;527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28" name="Google Shape;528;p40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29" name="Google Shape;529;p40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30" name="Google Shape;530;p40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1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2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42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42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42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42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42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42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41" name="Google Shape;541;p42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2" name="Google Shape;542;p42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3" name="Google Shape;543;p42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2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3"/>
          <p:cNvSpPr txBox="1">
            <a:spLocks noGrp="1"/>
          </p:cNvSpPr>
          <p:nvPr>
            <p:ph type="title"/>
          </p:nvPr>
        </p:nvSpPr>
        <p:spPr>
          <a:xfrm>
            <a:off x="259050" y="1801501"/>
            <a:ext cx="5760900" cy="24570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Maximizing Sales and Optimizing Services of a Financial cum Service Based Firm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A BDM  Capstone Project by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(Name: Debjit Mondal | Roll No: 23f2004618)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49" name="Google Shape;549;p43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BDM Capstone Project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0" name="Google Shape;550;p43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IITM BS Degree Program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551" name="Google Shape;55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50" y="125725"/>
            <a:ext cx="1040150" cy="10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4"/>
          <p:cNvSpPr txBox="1">
            <a:spLocks noGrp="1"/>
          </p:cNvSpPr>
          <p:nvPr>
            <p:ph type="title"/>
          </p:nvPr>
        </p:nvSpPr>
        <p:spPr>
          <a:xfrm>
            <a:off x="2466725" y="228600"/>
            <a:ext cx="6428700" cy="11640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Organizational Background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Unique Enterprise</a:t>
            </a:r>
            <a:endParaRPr sz="3000"/>
          </a:p>
        </p:txBody>
      </p:sp>
      <p:sp>
        <p:nvSpPr>
          <p:cNvPr id="557" name="Google Shape;557;p44"/>
          <p:cNvSpPr txBox="1">
            <a:spLocks noGrp="1"/>
          </p:cNvSpPr>
          <p:nvPr>
            <p:ph type="subTitle" idx="1"/>
          </p:nvPr>
        </p:nvSpPr>
        <p:spPr>
          <a:xfrm>
            <a:off x="2466725" y="1801500"/>
            <a:ext cx="57609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Type and Services offered:</a:t>
            </a:r>
            <a:r>
              <a:rPr lang="en"/>
              <a:t> B2C financial and service based firm offered Mutual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/>
              <a:t>fund sales, insurance, ITR filing, money transfer, ticket bookings</a:t>
            </a:r>
            <a:endParaRPr/>
          </a:p>
        </p:txBody>
      </p:sp>
      <p:sp>
        <p:nvSpPr>
          <p:cNvPr id="558" name="Google Shape;558;p44"/>
          <p:cNvSpPr txBox="1">
            <a:spLocks noGrp="1"/>
          </p:cNvSpPr>
          <p:nvPr>
            <p:ph type="subTitle" idx="1"/>
          </p:nvPr>
        </p:nvSpPr>
        <p:spPr>
          <a:xfrm>
            <a:off x="2466725" y="2698313"/>
            <a:ext cx="57609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Current No of Clients:</a:t>
            </a:r>
            <a:r>
              <a:rPr lang="en"/>
              <a:t> 160+</a:t>
            </a:r>
            <a:endParaRPr/>
          </a:p>
        </p:txBody>
      </p:sp>
      <p:sp>
        <p:nvSpPr>
          <p:cNvPr id="559" name="Google Shape;559;p44"/>
          <p:cNvSpPr txBox="1">
            <a:spLocks noGrp="1"/>
          </p:cNvSpPr>
          <p:nvPr>
            <p:ph type="subTitle" idx="1"/>
          </p:nvPr>
        </p:nvSpPr>
        <p:spPr>
          <a:xfrm>
            <a:off x="2466725" y="3784275"/>
            <a:ext cx="57609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Challenges: </a:t>
            </a:r>
            <a:r>
              <a:rPr lang="en"/>
              <a:t>Inconsistent mutual fund AUM (Assets Under Management) growth and portfolio misalignment</a:t>
            </a:r>
            <a:endParaRPr/>
          </a:p>
        </p:txBody>
      </p:sp>
      <p:pic>
        <p:nvPicPr>
          <p:cNvPr id="560" name="Google Shape;56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025" y="3784275"/>
            <a:ext cx="1040150" cy="104015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4"/>
          <p:cNvSpPr txBox="1"/>
          <p:nvPr/>
        </p:nvSpPr>
        <p:spPr>
          <a:xfrm>
            <a:off x="7776025" y="4824425"/>
            <a:ext cx="13434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IITM BS Degree Program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2" name="Google Shape;562;p44"/>
          <p:cNvSpPr txBox="1"/>
          <p:nvPr/>
        </p:nvSpPr>
        <p:spPr>
          <a:xfrm>
            <a:off x="228604" y="4824425"/>
            <a:ext cx="12096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BDM Capstone Project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3" name="Google Shape;563;p44"/>
          <p:cNvSpPr txBox="1">
            <a:spLocks noGrp="1"/>
          </p:cNvSpPr>
          <p:nvPr>
            <p:ph type="subTitle" idx="1"/>
          </p:nvPr>
        </p:nvSpPr>
        <p:spPr>
          <a:xfrm>
            <a:off x="2466725" y="3241288"/>
            <a:ext cx="57609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Main source of revenue: </a:t>
            </a:r>
            <a:r>
              <a:rPr lang="en"/>
              <a:t>Commission from mutual funds sales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5"/>
          <p:cNvSpPr/>
          <p:nvPr/>
        </p:nvSpPr>
        <p:spPr>
          <a:xfrm>
            <a:off x="600750" y="1459115"/>
            <a:ext cx="2834700" cy="26388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569" name="Google Shape;569;p45"/>
          <p:cNvCxnSpPr/>
          <p:nvPr/>
        </p:nvCxnSpPr>
        <p:spPr>
          <a:xfrm>
            <a:off x="232900" y="2470425"/>
            <a:ext cx="282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0" name="Google Shape;570;p45"/>
          <p:cNvSpPr/>
          <p:nvPr/>
        </p:nvSpPr>
        <p:spPr>
          <a:xfrm>
            <a:off x="4618950" y="1459115"/>
            <a:ext cx="2834700" cy="26388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571" name="Google Shape;571;p45"/>
          <p:cNvCxnSpPr/>
          <p:nvPr/>
        </p:nvCxnSpPr>
        <p:spPr>
          <a:xfrm>
            <a:off x="3158950" y="2470425"/>
            <a:ext cx="282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2" name="Google Shape;572;p45"/>
          <p:cNvCxnSpPr/>
          <p:nvPr/>
        </p:nvCxnSpPr>
        <p:spPr>
          <a:xfrm>
            <a:off x="6085000" y="2470425"/>
            <a:ext cx="282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3" name="Google Shape;573;p45"/>
          <p:cNvSpPr txBox="1">
            <a:spLocks noGrp="1"/>
          </p:cNvSpPr>
          <p:nvPr>
            <p:ph type="title"/>
          </p:nvPr>
        </p:nvSpPr>
        <p:spPr>
          <a:xfrm>
            <a:off x="232900" y="420017"/>
            <a:ext cx="6480300" cy="600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Problems</a:t>
            </a:r>
            <a:endParaRPr sz="3000"/>
          </a:p>
        </p:txBody>
      </p:sp>
      <p:sp>
        <p:nvSpPr>
          <p:cNvPr id="574" name="Google Shape;574;p45"/>
          <p:cNvSpPr txBox="1">
            <a:spLocks noGrp="1"/>
          </p:cNvSpPr>
          <p:nvPr>
            <p:ph type="subTitle" idx="1"/>
          </p:nvPr>
        </p:nvSpPr>
        <p:spPr>
          <a:xfrm>
            <a:off x="733900" y="1841175"/>
            <a:ext cx="24909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</a:rPr>
              <a:t>Challenges in Maximizing Profit from Mutual Fund Sales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575" name="Google Shape;575;p45"/>
          <p:cNvSpPr txBox="1">
            <a:spLocks noGrp="1"/>
          </p:cNvSpPr>
          <p:nvPr>
            <p:ph type="subTitle" idx="2"/>
          </p:nvPr>
        </p:nvSpPr>
        <p:spPr>
          <a:xfrm>
            <a:off x="918600" y="2543829"/>
            <a:ext cx="2199000" cy="907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192024" lvl="0" indent="-1247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d Hat Display"/>
              <a:buChar char="➔"/>
            </a:pPr>
            <a:r>
              <a:rPr lang="en" sz="1100"/>
              <a:t>Ad-hoc, unstructured sales approach limits AUM growth.</a:t>
            </a:r>
            <a:endParaRPr sz="1100"/>
          </a:p>
          <a:p>
            <a:pPr marL="192024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192024" lvl="0" indent="-1501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➔"/>
            </a:pPr>
            <a:r>
              <a:rPr lang="en" sz="1100"/>
              <a:t>Lack of data-driven strategy leads to missed profit opportunities.</a:t>
            </a:r>
            <a:endParaRPr sz="1100"/>
          </a:p>
        </p:txBody>
      </p:sp>
      <p:sp>
        <p:nvSpPr>
          <p:cNvPr id="576" name="Google Shape;576;p45"/>
          <p:cNvSpPr txBox="1">
            <a:spLocks noGrp="1"/>
          </p:cNvSpPr>
          <p:nvPr>
            <p:ph type="subTitle" idx="3"/>
          </p:nvPr>
        </p:nvSpPr>
        <p:spPr>
          <a:xfrm>
            <a:off x="4918200" y="1895400"/>
            <a:ext cx="23250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</a:rPr>
              <a:t>Difficulties in Aligning Client Portfolios with Risk Profiles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577" name="Google Shape;577;p45"/>
          <p:cNvSpPr txBox="1">
            <a:spLocks noGrp="1"/>
          </p:cNvSpPr>
          <p:nvPr>
            <p:ph type="subTitle" idx="4"/>
          </p:nvPr>
        </p:nvSpPr>
        <p:spPr>
          <a:xfrm>
            <a:off x="4889850" y="2628024"/>
            <a:ext cx="2199000" cy="1239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192024" lvl="0" indent="-1247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d Hat Display"/>
              <a:buChar char="➔"/>
            </a:pPr>
            <a:r>
              <a:rPr lang="en" sz="1100"/>
              <a:t>No systematic process to assess client risk tolerance &amp; goals.</a:t>
            </a:r>
            <a:endParaRPr sz="1100"/>
          </a:p>
          <a:p>
            <a:pPr marL="192024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192024" lvl="0" indent="-1247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d Hat Display"/>
              <a:buChar char="➔"/>
            </a:pPr>
            <a:r>
              <a:rPr lang="en" sz="1100"/>
              <a:t>Competing digital platforms offer advanced, personalized investment advice.</a:t>
            </a:r>
            <a:endParaRPr sz="1100"/>
          </a:p>
        </p:txBody>
      </p:sp>
      <p:pic>
        <p:nvPicPr>
          <p:cNvPr id="578" name="Google Shape;57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025" y="3784275"/>
            <a:ext cx="1040150" cy="104015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5"/>
          <p:cNvSpPr txBox="1"/>
          <p:nvPr/>
        </p:nvSpPr>
        <p:spPr>
          <a:xfrm>
            <a:off x="7776024" y="4824425"/>
            <a:ext cx="1362525" cy="17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IITM BS Degree Program</a:t>
            </a:r>
            <a:endParaRPr sz="800" dirty="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0" name="Google Shape;580;p45"/>
          <p:cNvSpPr txBox="1"/>
          <p:nvPr/>
        </p:nvSpPr>
        <p:spPr>
          <a:xfrm>
            <a:off x="228604" y="4824425"/>
            <a:ext cx="12096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BDM Capstone Project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6"/>
          <p:cNvSpPr txBox="1">
            <a:spLocks noGrp="1"/>
          </p:cNvSpPr>
          <p:nvPr>
            <p:ph type="subTitle" idx="1"/>
          </p:nvPr>
        </p:nvSpPr>
        <p:spPr>
          <a:xfrm>
            <a:off x="3769550" y="1547150"/>
            <a:ext cx="4966500" cy="10401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>
                <a:solidFill>
                  <a:schemeClr val="lt2"/>
                </a:solidFill>
              </a:rPr>
              <a:t>Primary Data Collection</a:t>
            </a:r>
            <a:endParaRPr>
              <a:solidFill>
                <a:schemeClr val="lt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Mutual funds transaction records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Quarterwise NAV data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Historical return of mutual funds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46"/>
          <p:cNvSpPr txBox="1">
            <a:spLocks noGrp="1"/>
          </p:cNvSpPr>
          <p:nvPr>
            <p:ph type="title"/>
          </p:nvPr>
        </p:nvSpPr>
        <p:spPr>
          <a:xfrm>
            <a:off x="3511650" y="79375"/>
            <a:ext cx="5754000" cy="6150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Data Collection</a:t>
            </a:r>
            <a:endParaRPr sz="2900"/>
          </a:p>
        </p:txBody>
      </p:sp>
      <p:sp>
        <p:nvSpPr>
          <p:cNvPr id="587" name="Google Shape;587;p46"/>
          <p:cNvSpPr txBox="1"/>
          <p:nvPr/>
        </p:nvSpPr>
        <p:spPr>
          <a:xfrm>
            <a:off x="228604" y="4824425"/>
            <a:ext cx="12096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BDM Capstone Project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8" name="Google Shape;588;p46"/>
          <p:cNvSpPr txBox="1"/>
          <p:nvPr/>
        </p:nvSpPr>
        <p:spPr>
          <a:xfrm>
            <a:off x="3372650" y="1014575"/>
            <a:ext cx="2035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 collection</a:t>
            </a:r>
            <a:endParaRPr sz="20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589" name="Google Shape;58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025" y="3784275"/>
            <a:ext cx="1040150" cy="104015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46"/>
          <p:cNvSpPr txBox="1"/>
          <p:nvPr/>
        </p:nvSpPr>
        <p:spPr>
          <a:xfrm>
            <a:off x="7776024" y="4824425"/>
            <a:ext cx="1367975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IITM BS Degree Program</a:t>
            </a:r>
            <a:endParaRPr sz="800" dirty="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1" name="Google Shape;591;p46"/>
          <p:cNvSpPr txBox="1">
            <a:spLocks noGrp="1"/>
          </p:cNvSpPr>
          <p:nvPr>
            <p:ph type="subTitle" idx="1"/>
          </p:nvPr>
        </p:nvSpPr>
        <p:spPr>
          <a:xfrm>
            <a:off x="3769550" y="2665713"/>
            <a:ext cx="4966500" cy="10401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>
                <a:solidFill>
                  <a:schemeClr val="lt2"/>
                </a:solidFill>
              </a:rPr>
              <a:t>Via Survey (through Unique Enterprise)</a:t>
            </a:r>
            <a:endParaRPr>
              <a:solidFill>
                <a:schemeClr val="lt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Risk assessment form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Printed copies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Google form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7"/>
          <p:cNvSpPr txBox="1">
            <a:spLocks noGrp="1"/>
          </p:cNvSpPr>
          <p:nvPr>
            <p:ph type="subTitle" idx="1"/>
          </p:nvPr>
        </p:nvSpPr>
        <p:spPr>
          <a:xfrm>
            <a:off x="3597450" y="1440225"/>
            <a:ext cx="4966500" cy="1560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New Investment, redemption and AUM trend</a:t>
            </a:r>
            <a:endParaRPr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Categorizing mutual funds into different risk categories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Risk assessment of clients</a:t>
            </a:r>
            <a:endParaRPr/>
          </a:p>
          <a:p>
            <a:pPr marL="457200" marR="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Finding current risk exposure of present portfolio of existing clients</a:t>
            </a:r>
            <a:endParaRPr/>
          </a:p>
          <a:p>
            <a:pPr marL="457200" marR="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Fund performance ranking</a:t>
            </a:r>
            <a:endParaRPr/>
          </a:p>
        </p:txBody>
      </p:sp>
      <p:sp>
        <p:nvSpPr>
          <p:cNvPr id="597" name="Google Shape;597;p47"/>
          <p:cNvSpPr txBox="1">
            <a:spLocks noGrp="1"/>
          </p:cNvSpPr>
          <p:nvPr>
            <p:ph type="title" idx="4294967295"/>
          </p:nvPr>
        </p:nvSpPr>
        <p:spPr>
          <a:xfrm>
            <a:off x="3548725" y="149700"/>
            <a:ext cx="5862900" cy="6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Analysis Methodology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598" name="Google Shape;598;p47"/>
          <p:cNvSpPr txBox="1"/>
          <p:nvPr/>
        </p:nvSpPr>
        <p:spPr>
          <a:xfrm>
            <a:off x="3366525" y="1008075"/>
            <a:ext cx="2035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B7B7B7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Analysis</a:t>
            </a:r>
            <a:endParaRPr sz="2000">
              <a:solidFill>
                <a:srgbClr val="B7B7B7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9" name="Google Shape;599;p47"/>
          <p:cNvSpPr txBox="1"/>
          <p:nvPr/>
        </p:nvSpPr>
        <p:spPr>
          <a:xfrm>
            <a:off x="228604" y="4824425"/>
            <a:ext cx="12096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BDM Capstone Project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00" name="Google Shape;60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025" y="3784275"/>
            <a:ext cx="1040150" cy="104015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47"/>
          <p:cNvSpPr txBox="1"/>
          <p:nvPr/>
        </p:nvSpPr>
        <p:spPr>
          <a:xfrm>
            <a:off x="7776024" y="4824425"/>
            <a:ext cx="1367975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IITM BS Degree Program</a:t>
            </a:r>
            <a:endParaRPr sz="800" dirty="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2" name="Google Shape;602;p47"/>
          <p:cNvSpPr txBox="1"/>
          <p:nvPr/>
        </p:nvSpPr>
        <p:spPr>
          <a:xfrm>
            <a:off x="3366525" y="3077475"/>
            <a:ext cx="2035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B7B7B7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Tools</a:t>
            </a:r>
            <a:endParaRPr sz="2000">
              <a:solidFill>
                <a:srgbClr val="B7B7B7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3" name="Google Shape;603;p47"/>
          <p:cNvSpPr txBox="1">
            <a:spLocks noGrp="1"/>
          </p:cNvSpPr>
          <p:nvPr>
            <p:ph type="subTitle" idx="1"/>
          </p:nvPr>
        </p:nvSpPr>
        <p:spPr>
          <a:xfrm>
            <a:off x="3597450" y="3509625"/>
            <a:ext cx="4045500" cy="10401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457200" marR="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Spreadsheet</a:t>
            </a:r>
            <a:endParaRPr/>
          </a:p>
          <a:p>
            <a:pPr marL="457200" marR="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Google Colab</a:t>
            </a:r>
            <a:endParaRPr/>
          </a:p>
          <a:p>
            <a:pPr marL="457200" marR="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Libraries - Numpy, Pandas, Scikit-learn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8"/>
          <p:cNvSpPr/>
          <p:nvPr/>
        </p:nvSpPr>
        <p:spPr>
          <a:xfrm>
            <a:off x="4591150" y="3147725"/>
            <a:ext cx="1222800" cy="3705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609" name="Google Shape;609;p48"/>
          <p:cNvSpPr/>
          <p:nvPr/>
        </p:nvSpPr>
        <p:spPr>
          <a:xfrm>
            <a:off x="4591150" y="1624038"/>
            <a:ext cx="1222800" cy="3705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610" name="Google Shape;610;p48"/>
          <p:cNvSpPr txBox="1">
            <a:spLocks noGrp="1"/>
          </p:cNvSpPr>
          <p:nvPr>
            <p:ph type="subTitle" idx="1"/>
          </p:nvPr>
        </p:nvSpPr>
        <p:spPr>
          <a:xfrm>
            <a:off x="4591050" y="3147725"/>
            <a:ext cx="1222800" cy="3705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Redemption trend finding</a:t>
            </a:r>
            <a:endParaRPr/>
          </a:p>
        </p:txBody>
      </p:sp>
      <p:sp>
        <p:nvSpPr>
          <p:cNvPr id="611" name="Google Shape;611;p48"/>
          <p:cNvSpPr txBox="1">
            <a:spLocks noGrp="1"/>
          </p:cNvSpPr>
          <p:nvPr>
            <p:ph type="subTitle" idx="3"/>
          </p:nvPr>
        </p:nvSpPr>
        <p:spPr>
          <a:xfrm>
            <a:off x="4591050" y="1624038"/>
            <a:ext cx="1222800" cy="3705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Investment trend finding</a:t>
            </a:r>
            <a:endParaRPr/>
          </a:p>
        </p:txBody>
      </p:sp>
      <p:sp>
        <p:nvSpPr>
          <p:cNvPr id="612" name="Google Shape;612;p48"/>
          <p:cNvSpPr txBox="1">
            <a:spLocks noGrp="1"/>
          </p:cNvSpPr>
          <p:nvPr>
            <p:ph type="title"/>
          </p:nvPr>
        </p:nvSpPr>
        <p:spPr>
          <a:xfrm>
            <a:off x="631600" y="275175"/>
            <a:ext cx="6860400" cy="461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- New Investment, Redemption and AUM trend</a:t>
            </a:r>
            <a:endParaRPr/>
          </a:p>
        </p:txBody>
      </p:sp>
      <p:sp>
        <p:nvSpPr>
          <p:cNvPr id="613" name="Google Shape;613;p48"/>
          <p:cNvSpPr txBox="1">
            <a:spLocks noGrp="1"/>
          </p:cNvSpPr>
          <p:nvPr>
            <p:ph type="subTitle" idx="4"/>
          </p:nvPr>
        </p:nvSpPr>
        <p:spPr>
          <a:xfrm>
            <a:off x="6080900" y="1672883"/>
            <a:ext cx="28347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/>
              <a:t>Spike during Q1-2024 and Q3-2024. </a:t>
            </a:r>
            <a:endParaRPr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/>
              <a:t>The business had organised targeted campaign in a corporate function and training college during that period.</a:t>
            </a:r>
            <a:endParaRPr/>
          </a:p>
        </p:txBody>
      </p:sp>
      <p:sp>
        <p:nvSpPr>
          <p:cNvPr id="614" name="Google Shape;614;p48"/>
          <p:cNvSpPr txBox="1">
            <a:spLocks noGrp="1"/>
          </p:cNvSpPr>
          <p:nvPr>
            <p:ph type="subTitle" idx="5"/>
          </p:nvPr>
        </p:nvSpPr>
        <p:spPr>
          <a:xfrm>
            <a:off x="6080900" y="3196570"/>
            <a:ext cx="28347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/>
              <a:t>Surge during Q3-2023 and Q1-2024</a:t>
            </a:r>
            <a:endParaRPr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/>
              <a:t>Two high value investor had redeemed substantial amount during that period</a:t>
            </a:r>
            <a:endParaRPr/>
          </a:p>
        </p:txBody>
      </p:sp>
      <p:pic>
        <p:nvPicPr>
          <p:cNvPr id="615" name="Google Shape;61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225" y="900247"/>
            <a:ext cx="2557325" cy="1606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312" y="2719175"/>
            <a:ext cx="2577153" cy="16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48"/>
          <p:cNvSpPr txBox="1"/>
          <p:nvPr/>
        </p:nvSpPr>
        <p:spPr>
          <a:xfrm>
            <a:off x="228604" y="4824425"/>
            <a:ext cx="12096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BDM Capstone Project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18" name="Google Shape;618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76025" y="3784275"/>
            <a:ext cx="1040150" cy="104015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48"/>
          <p:cNvSpPr txBox="1"/>
          <p:nvPr/>
        </p:nvSpPr>
        <p:spPr>
          <a:xfrm>
            <a:off x="7776024" y="4824425"/>
            <a:ext cx="1296257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IITM BS Degree Program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9"/>
          <p:cNvSpPr/>
          <p:nvPr/>
        </p:nvSpPr>
        <p:spPr>
          <a:xfrm>
            <a:off x="3459850" y="2757938"/>
            <a:ext cx="1500900" cy="2766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25" name="Google Shape;625;p49"/>
          <p:cNvSpPr/>
          <p:nvPr/>
        </p:nvSpPr>
        <p:spPr>
          <a:xfrm>
            <a:off x="869875" y="2757938"/>
            <a:ext cx="1500900" cy="2766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26" name="Google Shape;626;p49"/>
          <p:cNvSpPr/>
          <p:nvPr/>
        </p:nvSpPr>
        <p:spPr>
          <a:xfrm>
            <a:off x="6289063" y="2757938"/>
            <a:ext cx="1500900" cy="2766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27" name="Google Shape;627;p49"/>
          <p:cNvSpPr txBox="1">
            <a:spLocks noGrp="1"/>
          </p:cNvSpPr>
          <p:nvPr>
            <p:ph type="title"/>
          </p:nvPr>
        </p:nvSpPr>
        <p:spPr>
          <a:xfrm>
            <a:off x="644325" y="457200"/>
            <a:ext cx="6335700" cy="461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Findings- Risk assessment and categorization of clients</a:t>
            </a:r>
            <a:endParaRPr/>
          </a:p>
        </p:txBody>
      </p:sp>
      <p:sp>
        <p:nvSpPr>
          <p:cNvPr id="628" name="Google Shape;628;p49"/>
          <p:cNvSpPr txBox="1">
            <a:spLocks noGrp="1"/>
          </p:cNvSpPr>
          <p:nvPr>
            <p:ph type="subTitle" idx="2"/>
          </p:nvPr>
        </p:nvSpPr>
        <p:spPr>
          <a:xfrm>
            <a:off x="3459850" y="2763950"/>
            <a:ext cx="1500900" cy="26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Risk assessment survey</a:t>
            </a:r>
            <a:endParaRPr/>
          </a:p>
        </p:txBody>
      </p:sp>
      <p:sp>
        <p:nvSpPr>
          <p:cNvPr id="629" name="Google Shape;629;p49"/>
          <p:cNvSpPr txBox="1">
            <a:spLocks noGrp="1"/>
          </p:cNvSpPr>
          <p:nvPr>
            <p:ph type="subTitle" idx="3"/>
          </p:nvPr>
        </p:nvSpPr>
        <p:spPr>
          <a:xfrm>
            <a:off x="869875" y="2763950"/>
            <a:ext cx="1500900" cy="26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Current portfolio status</a:t>
            </a:r>
            <a:endParaRPr/>
          </a:p>
        </p:txBody>
      </p:sp>
      <p:sp>
        <p:nvSpPr>
          <p:cNvPr id="630" name="Google Shape;630;p49"/>
          <p:cNvSpPr txBox="1">
            <a:spLocks noGrp="1"/>
          </p:cNvSpPr>
          <p:nvPr>
            <p:ph type="subTitle" idx="4"/>
          </p:nvPr>
        </p:nvSpPr>
        <p:spPr>
          <a:xfrm>
            <a:off x="6289063" y="2763950"/>
            <a:ext cx="1500900" cy="26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Portfolio alignment </a:t>
            </a:r>
            <a:endParaRPr/>
          </a:p>
        </p:txBody>
      </p:sp>
      <p:sp>
        <p:nvSpPr>
          <p:cNvPr id="631" name="Google Shape;631;p49"/>
          <p:cNvSpPr txBox="1">
            <a:spLocks noGrp="1"/>
          </p:cNvSpPr>
          <p:nvPr>
            <p:ph type="body" idx="6"/>
          </p:nvPr>
        </p:nvSpPr>
        <p:spPr>
          <a:xfrm>
            <a:off x="3305088" y="3521663"/>
            <a:ext cx="2439900" cy="530915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rPr lang="en" dirty="0"/>
              <a:t>Out of 15, 8 chooses Medium risk category</a:t>
            </a:r>
            <a:endParaRPr dirty="0"/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rPr lang="en" dirty="0"/>
              <a:t>6 chooses High risk investment</a:t>
            </a:r>
            <a:endParaRPr dirty="0"/>
          </a:p>
        </p:txBody>
      </p:sp>
      <p:sp>
        <p:nvSpPr>
          <p:cNvPr id="632" name="Google Shape;632;p49"/>
          <p:cNvSpPr txBox="1">
            <a:spLocks noGrp="1"/>
          </p:cNvSpPr>
          <p:nvPr>
            <p:ph type="body" idx="5"/>
          </p:nvPr>
        </p:nvSpPr>
        <p:spPr>
          <a:xfrm>
            <a:off x="530225" y="3521675"/>
            <a:ext cx="25107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rPr lang="en"/>
              <a:t>43% of clients invested in high risk category</a:t>
            </a:r>
            <a:endParaRPr/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rPr lang="en"/>
              <a:t>56% invested in moderate risk category</a:t>
            </a:r>
            <a:endParaRPr/>
          </a:p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rPr lang="en"/>
              <a:t>Only 1% chooses low risk category</a:t>
            </a:r>
            <a:endParaRPr/>
          </a:p>
        </p:txBody>
      </p:sp>
      <p:sp>
        <p:nvSpPr>
          <p:cNvPr id="633" name="Google Shape;633;p49"/>
          <p:cNvSpPr txBox="1">
            <a:spLocks noGrp="1"/>
          </p:cNvSpPr>
          <p:nvPr>
            <p:ph type="body" idx="7"/>
          </p:nvPr>
        </p:nvSpPr>
        <p:spPr>
          <a:xfrm>
            <a:off x="5819563" y="3603998"/>
            <a:ext cx="24399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274320" lvl="0" indent="-102870" algn="l" rtl="0"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rPr lang="en"/>
              <a:t>6 clients needs realignment of their portfolio</a:t>
            </a:r>
            <a:endParaRPr/>
          </a:p>
        </p:txBody>
      </p:sp>
      <p:pic>
        <p:nvPicPr>
          <p:cNvPr id="634" name="Google Shape;63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4963" y="1180529"/>
            <a:ext cx="1730700" cy="1273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237" y="1180537"/>
            <a:ext cx="2180183" cy="127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0071" y="1180525"/>
            <a:ext cx="2398879" cy="1345713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9"/>
          <p:cNvSpPr txBox="1"/>
          <p:nvPr/>
        </p:nvSpPr>
        <p:spPr>
          <a:xfrm>
            <a:off x="228604" y="4824425"/>
            <a:ext cx="12096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BDM Capstone Project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38" name="Google Shape;638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76025" y="3784275"/>
            <a:ext cx="1040150" cy="104015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9"/>
          <p:cNvSpPr txBox="1"/>
          <p:nvPr/>
        </p:nvSpPr>
        <p:spPr>
          <a:xfrm>
            <a:off x="7776025" y="4824425"/>
            <a:ext cx="1305222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IITM BS Degree Program</a:t>
            </a:r>
            <a:endParaRPr sz="800" dirty="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0" name="Google Shape;640;p49"/>
          <p:cNvSpPr txBox="1"/>
          <p:nvPr/>
        </p:nvSpPr>
        <p:spPr>
          <a:xfrm>
            <a:off x="530225" y="3065475"/>
            <a:ext cx="21801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Current portfolio division  after risk categorization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1" name="Google Shape;641;p49"/>
          <p:cNvSpPr txBox="1"/>
          <p:nvPr/>
        </p:nvSpPr>
        <p:spPr>
          <a:xfrm>
            <a:off x="3344975" y="3090675"/>
            <a:ext cx="218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900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Results and analysis from risk assessment survey (15 responses)</a:t>
            </a:r>
            <a:endParaRPr sz="900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2" name="Google Shape;642;p49"/>
          <p:cNvSpPr txBox="1"/>
          <p:nvPr/>
        </p:nvSpPr>
        <p:spPr>
          <a:xfrm>
            <a:off x="5840200" y="3140175"/>
            <a:ext cx="23988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After risk assessment of 15 clients it is revealed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0"/>
          <p:cNvSpPr/>
          <p:nvPr/>
        </p:nvSpPr>
        <p:spPr>
          <a:xfrm>
            <a:off x="1042350" y="2804250"/>
            <a:ext cx="2762700" cy="276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48" name="Google Shape;648;p50"/>
          <p:cNvSpPr/>
          <p:nvPr/>
        </p:nvSpPr>
        <p:spPr>
          <a:xfrm>
            <a:off x="5327550" y="2804238"/>
            <a:ext cx="2762700" cy="276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49" name="Google Shape;649;p50"/>
          <p:cNvSpPr txBox="1">
            <a:spLocks noGrp="1"/>
          </p:cNvSpPr>
          <p:nvPr>
            <p:ph type="title"/>
          </p:nvPr>
        </p:nvSpPr>
        <p:spPr>
          <a:xfrm>
            <a:off x="650700" y="457200"/>
            <a:ext cx="5167800" cy="461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Findings- Top performing funds - Riskwise</a:t>
            </a:r>
            <a:endParaRPr/>
          </a:p>
        </p:txBody>
      </p:sp>
      <p:sp>
        <p:nvSpPr>
          <p:cNvPr id="650" name="Google Shape;650;p50"/>
          <p:cNvSpPr txBox="1">
            <a:spLocks noGrp="1"/>
          </p:cNvSpPr>
          <p:nvPr>
            <p:ph type="subTitle" idx="2"/>
          </p:nvPr>
        </p:nvSpPr>
        <p:spPr>
          <a:xfrm>
            <a:off x="1164525" y="2806400"/>
            <a:ext cx="2439900" cy="26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10 performing funds - 1 year </a:t>
            </a:r>
            <a:endParaRPr/>
          </a:p>
        </p:txBody>
      </p:sp>
      <p:sp>
        <p:nvSpPr>
          <p:cNvPr id="651" name="Google Shape;651;p50"/>
          <p:cNvSpPr txBox="1">
            <a:spLocks noGrp="1"/>
          </p:cNvSpPr>
          <p:nvPr>
            <p:ph type="subTitle" idx="3"/>
          </p:nvPr>
        </p:nvSpPr>
        <p:spPr>
          <a:xfrm>
            <a:off x="5449725" y="2806388"/>
            <a:ext cx="2439900" cy="26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10 performing funds - 5 years</a:t>
            </a:r>
            <a:endParaRPr/>
          </a:p>
        </p:txBody>
      </p:sp>
      <p:sp>
        <p:nvSpPr>
          <p:cNvPr id="652" name="Google Shape;652;p50"/>
          <p:cNvSpPr txBox="1">
            <a:spLocks noGrp="1"/>
          </p:cNvSpPr>
          <p:nvPr>
            <p:ph type="body" idx="5"/>
          </p:nvPr>
        </p:nvSpPr>
        <p:spPr>
          <a:xfrm>
            <a:off x="5449725" y="3253600"/>
            <a:ext cx="2439900" cy="569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274320" lvl="0" indent="-1028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rPr lang="en"/>
              <a:t>All high risk funds</a:t>
            </a:r>
            <a:endParaRPr/>
          </a:p>
          <a:p>
            <a:pPr marL="274320" lvl="0" indent="-10287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Char char="➔"/>
            </a:pPr>
            <a:r>
              <a:rPr lang="en"/>
              <a:t>Mostly small cap funds</a:t>
            </a:r>
            <a:endParaRPr/>
          </a:p>
          <a:p>
            <a:pPr marL="274320" lvl="0" indent="-10287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Char char="➔"/>
            </a:pPr>
            <a:r>
              <a:rPr lang="en"/>
              <a:t>Average returns 38%</a:t>
            </a:r>
            <a:endParaRPr/>
          </a:p>
        </p:txBody>
      </p:sp>
      <p:sp>
        <p:nvSpPr>
          <p:cNvPr id="653" name="Google Shape;653;p50"/>
          <p:cNvSpPr txBox="1">
            <a:spLocks noGrp="1"/>
          </p:cNvSpPr>
          <p:nvPr>
            <p:ph type="body" idx="6"/>
          </p:nvPr>
        </p:nvSpPr>
        <p:spPr>
          <a:xfrm>
            <a:off x="1164525" y="3253613"/>
            <a:ext cx="2439900" cy="569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274320" lvl="0" indent="-1028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rPr lang="en"/>
              <a:t>Mostly Moderate risk category</a:t>
            </a:r>
            <a:endParaRPr/>
          </a:p>
          <a:p>
            <a:pPr marL="274320" lvl="0" indent="-10287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Char char="➔"/>
            </a:pPr>
            <a:r>
              <a:rPr lang="en"/>
              <a:t>Metal based funds</a:t>
            </a:r>
            <a:endParaRPr/>
          </a:p>
          <a:p>
            <a:pPr marL="274320" lvl="0" indent="-10287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Char char="➔"/>
            </a:pPr>
            <a:r>
              <a:rPr lang="en"/>
              <a:t>Average returns 27%</a:t>
            </a:r>
            <a:endParaRPr/>
          </a:p>
        </p:txBody>
      </p:sp>
      <p:pic>
        <p:nvPicPr>
          <p:cNvPr id="654" name="Google Shape;65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50" y="1014875"/>
            <a:ext cx="4049112" cy="157325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pic>
      <p:pic>
        <p:nvPicPr>
          <p:cNvPr id="655" name="Google Shape;655;p50"/>
          <p:cNvPicPr preferRelativeResize="0"/>
          <p:nvPr/>
        </p:nvPicPr>
        <p:blipFill rotWithShape="1">
          <a:blip r:embed="rId4">
            <a:alphaModFix/>
          </a:blip>
          <a:srcRect b="8833"/>
          <a:stretch/>
        </p:blipFill>
        <p:spPr>
          <a:xfrm>
            <a:off x="4618950" y="1026650"/>
            <a:ext cx="3977450" cy="1521175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pic>
      <p:sp>
        <p:nvSpPr>
          <p:cNvPr id="656" name="Google Shape;656;p50"/>
          <p:cNvSpPr txBox="1"/>
          <p:nvPr/>
        </p:nvSpPr>
        <p:spPr>
          <a:xfrm>
            <a:off x="228604" y="4824425"/>
            <a:ext cx="12096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BDM Capstone Project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57" name="Google Shape;657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76025" y="3784275"/>
            <a:ext cx="1040150" cy="104015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50"/>
          <p:cNvSpPr txBox="1"/>
          <p:nvPr/>
        </p:nvSpPr>
        <p:spPr>
          <a:xfrm>
            <a:off x="7776025" y="4824425"/>
            <a:ext cx="1305222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IITM BS Degree Program</a:t>
            </a:r>
            <a:endParaRPr sz="800" dirty="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1"/>
          <p:cNvSpPr/>
          <p:nvPr/>
        </p:nvSpPr>
        <p:spPr>
          <a:xfrm>
            <a:off x="1305563" y="1188738"/>
            <a:ext cx="2947500" cy="1285500"/>
          </a:xfrm>
          <a:prstGeom prst="snip1Rect">
            <a:avLst>
              <a:gd name="adj" fmla="val 18586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4" name="Google Shape;664;p51"/>
          <p:cNvSpPr/>
          <p:nvPr/>
        </p:nvSpPr>
        <p:spPr>
          <a:xfrm>
            <a:off x="5696738" y="1188738"/>
            <a:ext cx="2947500" cy="1285500"/>
          </a:xfrm>
          <a:prstGeom prst="snip1Rect">
            <a:avLst>
              <a:gd name="adj" fmla="val 18586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5" name="Google Shape;665;p51"/>
          <p:cNvSpPr/>
          <p:nvPr/>
        </p:nvSpPr>
        <p:spPr>
          <a:xfrm>
            <a:off x="1305563" y="2669263"/>
            <a:ext cx="2947500" cy="1285500"/>
          </a:xfrm>
          <a:prstGeom prst="snip1Rect">
            <a:avLst>
              <a:gd name="adj" fmla="val 18586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6" name="Google Shape;666;p51"/>
          <p:cNvSpPr/>
          <p:nvPr/>
        </p:nvSpPr>
        <p:spPr>
          <a:xfrm>
            <a:off x="593663" y="2669263"/>
            <a:ext cx="711900" cy="1272000"/>
          </a:xfrm>
          <a:prstGeom prst="snip2DiagRect">
            <a:avLst>
              <a:gd name="adj1" fmla="val 0"/>
              <a:gd name="adj2" fmla="val 40297"/>
            </a:avLst>
          </a:prstGeom>
          <a:solidFill>
            <a:schemeClr val="dk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7" name="Google Shape;667;p51"/>
          <p:cNvSpPr/>
          <p:nvPr/>
        </p:nvSpPr>
        <p:spPr>
          <a:xfrm>
            <a:off x="5696738" y="2669263"/>
            <a:ext cx="2947500" cy="1285500"/>
          </a:xfrm>
          <a:prstGeom prst="snip1Rect">
            <a:avLst>
              <a:gd name="adj" fmla="val 18586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8" name="Google Shape;668;p51"/>
          <p:cNvSpPr/>
          <p:nvPr/>
        </p:nvSpPr>
        <p:spPr>
          <a:xfrm>
            <a:off x="593663" y="1195488"/>
            <a:ext cx="711900" cy="1272000"/>
          </a:xfrm>
          <a:prstGeom prst="snip2DiagRect">
            <a:avLst>
              <a:gd name="adj1" fmla="val 0"/>
              <a:gd name="adj2" fmla="val 40297"/>
            </a:avLst>
          </a:prstGeom>
          <a:solidFill>
            <a:schemeClr val="dk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9" name="Google Shape;669;p51"/>
          <p:cNvSpPr/>
          <p:nvPr/>
        </p:nvSpPr>
        <p:spPr>
          <a:xfrm>
            <a:off x="4984838" y="2669263"/>
            <a:ext cx="711900" cy="1272000"/>
          </a:xfrm>
          <a:prstGeom prst="snip2DiagRect">
            <a:avLst>
              <a:gd name="adj1" fmla="val 0"/>
              <a:gd name="adj2" fmla="val 40297"/>
            </a:avLst>
          </a:prstGeom>
          <a:solidFill>
            <a:schemeClr val="dk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0" name="Google Shape;670;p51"/>
          <p:cNvSpPr/>
          <p:nvPr/>
        </p:nvSpPr>
        <p:spPr>
          <a:xfrm>
            <a:off x="4984838" y="1195488"/>
            <a:ext cx="711900" cy="1272000"/>
          </a:xfrm>
          <a:prstGeom prst="snip2DiagRect">
            <a:avLst>
              <a:gd name="adj1" fmla="val 0"/>
              <a:gd name="adj2" fmla="val 40297"/>
            </a:avLst>
          </a:prstGeom>
          <a:solidFill>
            <a:schemeClr val="dk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1" name="Google Shape;671;p51"/>
          <p:cNvSpPr txBox="1">
            <a:spLocks noGrp="1"/>
          </p:cNvSpPr>
          <p:nvPr>
            <p:ph type="title"/>
          </p:nvPr>
        </p:nvSpPr>
        <p:spPr>
          <a:xfrm>
            <a:off x="594150" y="453300"/>
            <a:ext cx="5121000" cy="461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</a:t>
            </a:r>
            <a:endParaRPr/>
          </a:p>
        </p:txBody>
      </p:sp>
      <p:sp>
        <p:nvSpPr>
          <p:cNvPr id="672" name="Google Shape;672;p51"/>
          <p:cNvSpPr txBox="1">
            <a:spLocks noGrp="1"/>
          </p:cNvSpPr>
          <p:nvPr>
            <p:ph type="subTitle" idx="2"/>
          </p:nvPr>
        </p:nvSpPr>
        <p:spPr>
          <a:xfrm>
            <a:off x="598463" y="1443438"/>
            <a:ext cx="702300" cy="7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73" name="Google Shape;673;p51"/>
          <p:cNvSpPr txBox="1">
            <a:spLocks noGrp="1"/>
          </p:cNvSpPr>
          <p:nvPr>
            <p:ph type="subTitle" idx="3"/>
          </p:nvPr>
        </p:nvSpPr>
        <p:spPr>
          <a:xfrm>
            <a:off x="598463" y="2917213"/>
            <a:ext cx="702300" cy="7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74" name="Google Shape;674;p51"/>
          <p:cNvSpPr txBox="1">
            <a:spLocks noGrp="1"/>
          </p:cNvSpPr>
          <p:nvPr>
            <p:ph type="subTitle" idx="4"/>
          </p:nvPr>
        </p:nvSpPr>
        <p:spPr>
          <a:xfrm>
            <a:off x="4989638" y="1443438"/>
            <a:ext cx="702300" cy="776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75" name="Google Shape;675;p51"/>
          <p:cNvSpPr txBox="1">
            <a:spLocks noGrp="1"/>
          </p:cNvSpPr>
          <p:nvPr>
            <p:ph type="subTitle" idx="5"/>
          </p:nvPr>
        </p:nvSpPr>
        <p:spPr>
          <a:xfrm>
            <a:off x="4989638" y="2917213"/>
            <a:ext cx="702300" cy="7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76" name="Google Shape;676;p51"/>
          <p:cNvSpPr txBox="1">
            <a:spLocks noGrp="1"/>
          </p:cNvSpPr>
          <p:nvPr>
            <p:ph type="subTitle" idx="6"/>
          </p:nvPr>
        </p:nvSpPr>
        <p:spPr>
          <a:xfrm>
            <a:off x="1507463" y="1430713"/>
            <a:ext cx="24777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Conduct regular campaigns - 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Campaigns at different helps significantly in funds inflows.</a:t>
            </a:r>
            <a:endParaRPr sz="1100"/>
          </a:p>
        </p:txBody>
      </p:sp>
      <p:sp>
        <p:nvSpPr>
          <p:cNvPr id="677" name="Google Shape;677;p51"/>
          <p:cNvSpPr txBox="1">
            <a:spLocks noGrp="1"/>
          </p:cNvSpPr>
          <p:nvPr>
            <p:ph type="subTitle" idx="7"/>
          </p:nvPr>
        </p:nvSpPr>
        <p:spPr>
          <a:xfrm>
            <a:off x="1507463" y="2911238"/>
            <a:ext cx="24777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Track high-value investors closely to manage redemption risk.</a:t>
            </a:r>
            <a:endParaRPr sz="1100"/>
          </a:p>
        </p:txBody>
      </p:sp>
      <p:sp>
        <p:nvSpPr>
          <p:cNvPr id="678" name="Google Shape;678;p51"/>
          <p:cNvSpPr txBox="1">
            <a:spLocks noGrp="1"/>
          </p:cNvSpPr>
          <p:nvPr>
            <p:ph type="subTitle" idx="8"/>
          </p:nvPr>
        </p:nvSpPr>
        <p:spPr>
          <a:xfrm>
            <a:off x="5898638" y="1430713"/>
            <a:ext cx="24777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Do risk assessment during new investments for new clients and and follow up with existing clients to ensure accurate investment guidance.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51"/>
          <p:cNvSpPr txBox="1">
            <a:spLocks noGrp="1"/>
          </p:cNvSpPr>
          <p:nvPr>
            <p:ph type="subTitle" idx="9"/>
          </p:nvPr>
        </p:nvSpPr>
        <p:spPr>
          <a:xfrm>
            <a:off x="5898638" y="2835413"/>
            <a:ext cx="24777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Suggest low-risk funds for short-term needs, high-risk funds for long-term growth, and moderate-risk funds for medium-term goals to give clients a good balance of safety and returns</a:t>
            </a:r>
            <a:endParaRPr sz="1100"/>
          </a:p>
        </p:txBody>
      </p:sp>
      <p:sp>
        <p:nvSpPr>
          <p:cNvPr id="680" name="Google Shape;680;p51"/>
          <p:cNvSpPr txBox="1"/>
          <p:nvPr/>
        </p:nvSpPr>
        <p:spPr>
          <a:xfrm>
            <a:off x="228604" y="4824425"/>
            <a:ext cx="12096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BDM Capstone Project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81" name="Google Shape;68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025" y="3784275"/>
            <a:ext cx="1040150" cy="1040150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1"/>
          <p:cNvSpPr txBox="1"/>
          <p:nvPr/>
        </p:nvSpPr>
        <p:spPr>
          <a:xfrm>
            <a:off x="7776024" y="4824425"/>
            <a:ext cx="1367975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IITM BS Degree Program</a:t>
            </a:r>
            <a:endParaRPr sz="800" dirty="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2"/>
          <p:cNvSpPr/>
          <p:nvPr/>
        </p:nvSpPr>
        <p:spPr>
          <a:xfrm>
            <a:off x="2732250" y="4096025"/>
            <a:ext cx="3679500" cy="5877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828800" marR="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88" name="Google Shape;688;p52"/>
          <p:cNvSpPr txBox="1">
            <a:spLocks noGrp="1"/>
          </p:cNvSpPr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689" name="Google Shape;689;p52"/>
          <p:cNvSpPr txBox="1">
            <a:spLocks noGrp="1"/>
          </p:cNvSpPr>
          <p:nvPr>
            <p:ph type="subTitle" idx="1"/>
          </p:nvPr>
        </p:nvSpPr>
        <p:spPr>
          <a:xfrm>
            <a:off x="3154650" y="1107300"/>
            <a:ext cx="5599500" cy="5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special thanks to Mr. Indrajit Mondal, owner of Unique Enterprise, for his kind support.</a:t>
            </a:r>
            <a:endParaRPr/>
          </a:p>
        </p:txBody>
      </p:sp>
      <p:sp>
        <p:nvSpPr>
          <p:cNvPr id="690" name="Google Shape;690;p52"/>
          <p:cNvSpPr txBox="1">
            <a:spLocks noGrp="1"/>
          </p:cNvSpPr>
          <p:nvPr>
            <p:ph type="subTitle" idx="3"/>
          </p:nvPr>
        </p:nvSpPr>
        <p:spPr>
          <a:xfrm>
            <a:off x="3188700" y="4173175"/>
            <a:ext cx="2766600" cy="173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Debjit Mondal</a:t>
            </a:r>
            <a:r>
              <a:rPr lang="en"/>
              <a:t> | 23f2004618 | BDM Capstone Project </a:t>
            </a:r>
            <a:endParaRPr/>
          </a:p>
        </p:txBody>
      </p:sp>
      <p:sp>
        <p:nvSpPr>
          <p:cNvPr id="691" name="Google Shape;691;p52"/>
          <p:cNvSpPr txBox="1">
            <a:spLocks noGrp="1"/>
          </p:cNvSpPr>
          <p:nvPr>
            <p:ph type="subTitle" idx="4"/>
          </p:nvPr>
        </p:nvSpPr>
        <p:spPr>
          <a:xfrm>
            <a:off x="2950650" y="4444825"/>
            <a:ext cx="1668300" cy="17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23f2004618@ds.study.iitm.ac.in</a:t>
            </a:r>
            <a:endParaRPr/>
          </a:p>
        </p:txBody>
      </p:sp>
      <p:sp>
        <p:nvSpPr>
          <p:cNvPr id="692" name="Google Shape;692;p52"/>
          <p:cNvSpPr txBox="1">
            <a:spLocks noGrp="1"/>
          </p:cNvSpPr>
          <p:nvPr>
            <p:ph type="subTitle" idx="6"/>
          </p:nvPr>
        </p:nvSpPr>
        <p:spPr>
          <a:xfrm>
            <a:off x="4867775" y="4444825"/>
            <a:ext cx="1405200" cy="17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IITM BS Degree Program</a:t>
            </a:r>
            <a:endParaRPr/>
          </a:p>
        </p:txBody>
      </p:sp>
      <p:sp>
        <p:nvSpPr>
          <p:cNvPr id="693" name="Google Shape;693;p52"/>
          <p:cNvSpPr txBox="1"/>
          <p:nvPr/>
        </p:nvSpPr>
        <p:spPr>
          <a:xfrm>
            <a:off x="228604" y="4824425"/>
            <a:ext cx="12096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BDM Capstone Project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94" name="Google Shape;69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025" y="3784275"/>
            <a:ext cx="1040150" cy="104015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2"/>
          <p:cNvSpPr txBox="1"/>
          <p:nvPr/>
        </p:nvSpPr>
        <p:spPr>
          <a:xfrm>
            <a:off x="7776025" y="4824425"/>
            <a:ext cx="1305222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IITM BS Degree Program</a:t>
            </a:r>
            <a:endParaRPr sz="800" dirty="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1252</Words>
  <Application>Microsoft Macintosh PowerPoint</Application>
  <PresentationFormat>On-screen Show (16:9)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Red Hat Display</vt:lpstr>
      <vt:lpstr>Red Hat Display Medium</vt:lpstr>
      <vt:lpstr>Arial</vt:lpstr>
      <vt:lpstr>Roboto</vt:lpstr>
      <vt:lpstr>Red Hat Display SemiBold</vt:lpstr>
      <vt:lpstr>Investor Pitch Presentation</vt:lpstr>
      <vt:lpstr>Maximizing Sales and Optimizing Services of a Financial cum Service Based Firm A BDM  Capstone Project by  (Name: Debjit Mondal | Roll No: 23f2004618)</vt:lpstr>
      <vt:lpstr>Organizational Background Unique Enterprise</vt:lpstr>
      <vt:lpstr>Problems</vt:lpstr>
      <vt:lpstr>Data Collection</vt:lpstr>
      <vt:lpstr>Analysis Methodology</vt:lpstr>
      <vt:lpstr>Finding - New Investment, Redemption and AUM trend</vt:lpstr>
      <vt:lpstr>Findings- Risk assessment and categorization of clients</vt:lpstr>
      <vt:lpstr>Findings- Top performing funds - Riskwise</vt:lpstr>
      <vt:lpstr>Recommendation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Maximizing Sales and Optimizing Services of a Financial cum Service Based Firm A BDM  Capstone Project by  (Name: Debjit Mondal | Roll No: 23f2004618)</dc:title>
  <cp:lastModifiedBy>Debjit Mondal</cp:lastModifiedBy>
  <cp:revision>2</cp:revision>
  <dcterms:modified xsi:type="dcterms:W3CDTF">2025-07-24T12:55:57Z</dcterms:modified>
</cp:coreProperties>
</file>